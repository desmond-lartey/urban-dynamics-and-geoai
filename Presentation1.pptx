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8" r:id="rId2"/>
    <p:sldId id="259" r:id="rId3"/>
    <p:sldId id="260" r:id="rId4"/>
    <p:sldId id="261" r:id="rId5"/>
    <p:sldId id="264" r:id="rId6"/>
    <p:sldId id="262" r:id="rId7"/>
    <p:sldId id="263" r:id="rId8"/>
    <p:sldId id="265" r:id="rId9"/>
    <p:sldId id="266" r:id="rId10"/>
    <p:sldId id="267" r:id="rId11"/>
    <p:sldId id="268" r:id="rId1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1D2C37-97C8-4F57-A043-6B0B5EA551A5}" type="datetimeFigureOut">
              <a:rPr lang="nl-NL" smtClean="0"/>
              <a:t>2-5-2025</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211AA5-FF67-4171-A23C-F195C260B421}" type="slidenum">
              <a:rPr lang="nl-NL" smtClean="0"/>
              <a:t>‹#›</a:t>
            </a:fld>
            <a:endParaRPr lang="nl-NL"/>
          </a:p>
        </p:txBody>
      </p:sp>
    </p:spTree>
    <p:extLst>
      <p:ext uri="{BB962C8B-B14F-4D97-AF65-F5344CB8AC3E}">
        <p14:creationId xmlns:p14="http://schemas.microsoft.com/office/powerpoint/2010/main" val="2382069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2000 to 2024, Nairobi and Kinshasa exhibit significant declines in urban thermal stress as reflected in widespread cooling, while Lagos and Johannesburg show relatively stable UTFVI patterns with minimal change.</a:t>
            </a:r>
          </a:p>
          <a:p>
            <a:r>
              <a:rPr lang="en-GB" b="1" dirty="0"/>
              <a:t>a) Nairobi (2000–2024)</a:t>
            </a:r>
          </a:p>
          <a:p>
            <a:r>
              <a:rPr lang="en-GB" dirty="0"/>
              <a:t>Nairobi's UTFVI maps show a clear spatial shift from moderately warm zones (yellow-orange) in 2000 and 2010 toward cooler green areas by 2020 and especially in 2024, indicating widespread reduction in urban thermal stress.</a:t>
            </a:r>
          </a:p>
          <a:p>
            <a:r>
              <a:rPr lang="en-GB" b="1" dirty="0"/>
              <a:t>b) Lagos (2000–2024)</a:t>
            </a:r>
          </a:p>
          <a:p>
            <a:r>
              <a:rPr lang="en-GB" dirty="0"/>
              <a:t>Lagos remains relatively stable across all years, with minimal visible change in UTFVI values, suggesting consistent thermal conditions and limited expansion of heat-stressed zones.</a:t>
            </a:r>
          </a:p>
          <a:p>
            <a:r>
              <a:rPr lang="en-GB" b="1" dirty="0"/>
              <a:t>c) Johannesburg (2000–2024)</a:t>
            </a:r>
          </a:p>
          <a:p>
            <a:r>
              <a:rPr lang="en-GB" dirty="0"/>
              <a:t>Johannesburg shows a persistent yellow-green pattern across all years, with minor reductions in warm zones by 2024, pointing to moderate but stable urban heat levels over time.</a:t>
            </a:r>
          </a:p>
          <a:p>
            <a:r>
              <a:rPr lang="en-GB" b="1" dirty="0"/>
              <a:t>d) Kinshasa (2000–2024)</a:t>
            </a:r>
          </a:p>
          <a:p>
            <a:r>
              <a:rPr lang="en-GB" dirty="0"/>
              <a:t>Kinshasa’s thermal conditions improve noticeably from 2000 to 2024, with a significant decline in reddish heat-stressed areas and a rise in green, cooler zones, particularly after 2010.</a:t>
            </a:r>
          </a:p>
          <a:p>
            <a:endParaRPr lang="nl-NL" dirty="0"/>
          </a:p>
        </p:txBody>
      </p:sp>
      <p:sp>
        <p:nvSpPr>
          <p:cNvPr id="4" name="Slide Number Placeholder 3"/>
          <p:cNvSpPr>
            <a:spLocks noGrp="1"/>
          </p:cNvSpPr>
          <p:nvPr>
            <p:ph type="sldNum" sz="quarter" idx="5"/>
          </p:nvPr>
        </p:nvSpPr>
        <p:spPr/>
        <p:txBody>
          <a:bodyPr/>
          <a:lstStyle/>
          <a:p>
            <a:fld id="{CF211AA5-FF67-4171-A23C-F195C260B421}" type="slidenum">
              <a:rPr lang="nl-NL" smtClean="0"/>
              <a:t>4</a:t>
            </a:fld>
            <a:endParaRPr lang="nl-NL"/>
          </a:p>
        </p:txBody>
      </p:sp>
    </p:spTree>
    <p:extLst>
      <p:ext uri="{BB962C8B-B14F-4D97-AF65-F5344CB8AC3E}">
        <p14:creationId xmlns:p14="http://schemas.microsoft.com/office/powerpoint/2010/main" val="2567070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Temperature anomalies are increasingly shifting toward cooler values in Johannesburg and Nairobi, while Kinshasa and Lagos show a clear warming trend, especially by 2024, indicating diverging climate dynamics across the cities.</a:t>
            </a:r>
          </a:p>
          <a:p>
            <a:r>
              <a:rPr lang="en-GB" b="1" dirty="0"/>
              <a:t>a) Nairobi</a:t>
            </a:r>
            <a:br>
              <a:rPr lang="en-GB" dirty="0"/>
            </a:br>
            <a:r>
              <a:rPr lang="en-GB" dirty="0"/>
              <a:t>In Nairobi, the temperature anomaly distributions for 2000 and 2020 are relatively </a:t>
            </a:r>
            <a:r>
              <a:rPr lang="en-GB" dirty="0" err="1"/>
              <a:t>centered</a:t>
            </a:r>
            <a:r>
              <a:rPr lang="en-GB" dirty="0"/>
              <a:t> near zero, while 2010 shows a leftward shift indicating cooler conditions. By 2024, the distribution broadens and slightly shifts left again, suggesting increased variability and potential cooling compared to 2020.</a:t>
            </a:r>
          </a:p>
          <a:p>
            <a:r>
              <a:rPr lang="en-GB" b="1" dirty="0"/>
              <a:t>b) Johannesburg</a:t>
            </a:r>
            <a:br>
              <a:rPr lang="en-GB" dirty="0"/>
            </a:br>
            <a:r>
              <a:rPr lang="en-GB" dirty="0" err="1"/>
              <a:t>Johannesburg</a:t>
            </a:r>
            <a:r>
              <a:rPr lang="en-GB" dirty="0"/>
              <a:t> exhibits a clear warming trend, with the 2000 distribution </a:t>
            </a:r>
            <a:r>
              <a:rPr lang="en-GB" dirty="0" err="1"/>
              <a:t>centered</a:t>
            </a:r>
            <a:r>
              <a:rPr lang="en-GB" dirty="0"/>
              <a:t> above zero, while 2010, 2020, and 2024 shift progressively leftward into negative anomalies. This indicates a transition from warm anomalies in 2000 to consistently cooler conditions over time, with 2024 showing the most pronounced cooling.</a:t>
            </a:r>
          </a:p>
          <a:p>
            <a:r>
              <a:rPr lang="en-GB" b="1" dirty="0"/>
              <a:t>c) Kinshasa</a:t>
            </a:r>
            <a:br>
              <a:rPr lang="en-GB" dirty="0"/>
            </a:br>
            <a:r>
              <a:rPr lang="en-GB" dirty="0"/>
              <a:t>Kinshasa's temperature anomaly distribution for 2000 and 2010 remains skewed toward negative values, suggesting cooler conditions during these years. However, by 2024 the distribution shifts markedly to the right, indicating a warming trend with higher frequencies of positive temperature anomalies.</a:t>
            </a:r>
          </a:p>
          <a:p>
            <a:r>
              <a:rPr lang="en-GB" b="1" dirty="0"/>
              <a:t>d) Lagos</a:t>
            </a:r>
            <a:br>
              <a:rPr lang="en-GB" dirty="0"/>
            </a:br>
            <a:r>
              <a:rPr lang="en-GB" dirty="0" err="1"/>
              <a:t>Lagos</a:t>
            </a:r>
            <a:r>
              <a:rPr lang="en-GB" dirty="0"/>
              <a:t> shows overlapping distributions from 2000 through 2020, generally </a:t>
            </a:r>
            <a:r>
              <a:rPr lang="en-GB" dirty="0" err="1"/>
              <a:t>centered</a:t>
            </a:r>
            <a:r>
              <a:rPr lang="en-GB" dirty="0"/>
              <a:t> near or slightly below zero, indicating moderate and relatively stable anomalies. In contrast, the 2024 distribution shifts distinctly to the right, reflecting a significant rise in temperature anomalies and a shift toward warmer conditions.</a:t>
            </a:r>
          </a:p>
          <a:p>
            <a:endParaRPr lang="nl-NL" dirty="0"/>
          </a:p>
        </p:txBody>
      </p:sp>
      <p:sp>
        <p:nvSpPr>
          <p:cNvPr id="4" name="Slide Number Placeholder 3"/>
          <p:cNvSpPr>
            <a:spLocks noGrp="1"/>
          </p:cNvSpPr>
          <p:nvPr>
            <p:ph type="sldNum" sz="quarter" idx="5"/>
          </p:nvPr>
        </p:nvSpPr>
        <p:spPr/>
        <p:txBody>
          <a:bodyPr/>
          <a:lstStyle/>
          <a:p>
            <a:fld id="{CF211AA5-FF67-4171-A23C-F195C260B421}" type="slidenum">
              <a:rPr lang="nl-NL" smtClean="0"/>
              <a:t>6</a:t>
            </a:fld>
            <a:endParaRPr lang="nl-NL"/>
          </a:p>
        </p:txBody>
      </p:sp>
    </p:spTree>
    <p:extLst>
      <p:ext uri="{BB962C8B-B14F-4D97-AF65-F5344CB8AC3E}">
        <p14:creationId xmlns:p14="http://schemas.microsoft.com/office/powerpoint/2010/main" val="1689700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Urban thermal stress is intensifying in Nairobi and gradually emerging in Kinshasa, while Johannesburg and Lagos remain relatively stable with minimal change in urban heat variability over time.</a:t>
            </a:r>
          </a:p>
          <a:p>
            <a:endParaRPr lang="nl-NL" dirty="0"/>
          </a:p>
        </p:txBody>
      </p:sp>
      <p:sp>
        <p:nvSpPr>
          <p:cNvPr id="4" name="Slide Number Placeholder 3"/>
          <p:cNvSpPr>
            <a:spLocks noGrp="1"/>
          </p:cNvSpPr>
          <p:nvPr>
            <p:ph type="sldNum" sz="quarter" idx="5"/>
          </p:nvPr>
        </p:nvSpPr>
        <p:spPr/>
        <p:txBody>
          <a:bodyPr/>
          <a:lstStyle/>
          <a:p>
            <a:fld id="{CF211AA5-FF67-4171-A23C-F195C260B421}" type="slidenum">
              <a:rPr lang="nl-NL" smtClean="0"/>
              <a:t>7</a:t>
            </a:fld>
            <a:endParaRPr lang="nl-NL"/>
          </a:p>
        </p:txBody>
      </p:sp>
    </p:spTree>
    <p:extLst>
      <p:ext uri="{BB962C8B-B14F-4D97-AF65-F5344CB8AC3E}">
        <p14:creationId xmlns:p14="http://schemas.microsoft.com/office/powerpoint/2010/main" val="1225148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Johannesburg is experiencing a steady and consistent shift toward surface cooling across all land cover types, especially in built-up areas, from 2000 to 2024.</a:t>
            </a:r>
            <a:endParaRPr lang="en-GB" b="1" dirty="0"/>
          </a:p>
          <a:p>
            <a:r>
              <a:rPr lang="en-GB" b="1" dirty="0"/>
              <a:t>a) Year 2000</a:t>
            </a:r>
            <a:br>
              <a:rPr lang="en-GB" dirty="0"/>
            </a:br>
            <a:r>
              <a:rPr lang="en-GB" dirty="0"/>
              <a:t>In 2000, temperature anomalies in Johannesburg showed mixed distributions, with vegetation and built-up areas clustered near zero while water bodies had a slightly cooler bias.</a:t>
            </a:r>
          </a:p>
          <a:p>
            <a:r>
              <a:rPr lang="en-GB" b="1" dirty="0"/>
              <a:t>b) Year 2010</a:t>
            </a:r>
            <a:br>
              <a:rPr lang="en-GB" dirty="0"/>
            </a:br>
            <a:r>
              <a:rPr lang="en-GB" dirty="0"/>
              <a:t>By 2010, all three land cover classes—vegetation, built-up, and water—converged toward more compact distributions </a:t>
            </a:r>
            <a:r>
              <a:rPr lang="en-GB" dirty="0" err="1"/>
              <a:t>centered</a:t>
            </a:r>
            <a:r>
              <a:rPr lang="en-GB" dirty="0"/>
              <a:t> around slightly negative anomalies, indicating mild cooling.</a:t>
            </a:r>
          </a:p>
          <a:p>
            <a:r>
              <a:rPr lang="en-GB" b="1" dirty="0"/>
              <a:t>c) Year 2020</a:t>
            </a:r>
            <a:br>
              <a:rPr lang="en-GB" dirty="0"/>
            </a:br>
            <a:r>
              <a:rPr lang="en-GB" dirty="0"/>
              <a:t>In 2020, the distributions for all LULC classes shifted more clearly into negative anomalies, with built-up areas showing the highest density of cooler values.</a:t>
            </a:r>
          </a:p>
          <a:p>
            <a:r>
              <a:rPr lang="en-GB" b="1" dirty="0"/>
              <a:t>d) Year 2024</a:t>
            </a:r>
            <a:br>
              <a:rPr lang="en-GB" dirty="0"/>
            </a:br>
            <a:r>
              <a:rPr lang="en-GB" dirty="0"/>
              <a:t>By 2024, all land cover classes displayed consistently negative anomaly distributions, with little overlap near zero, highlighting intensified and uniform cooling across Johannesburg's surface.</a:t>
            </a:r>
          </a:p>
          <a:p>
            <a:endParaRPr lang="nl-NL" dirty="0"/>
          </a:p>
        </p:txBody>
      </p:sp>
      <p:sp>
        <p:nvSpPr>
          <p:cNvPr id="4" name="Slide Number Placeholder 3"/>
          <p:cNvSpPr>
            <a:spLocks noGrp="1"/>
          </p:cNvSpPr>
          <p:nvPr>
            <p:ph type="sldNum" sz="quarter" idx="5"/>
          </p:nvPr>
        </p:nvSpPr>
        <p:spPr/>
        <p:txBody>
          <a:bodyPr/>
          <a:lstStyle/>
          <a:p>
            <a:fld id="{CF211AA5-FF67-4171-A23C-F195C260B421}" type="slidenum">
              <a:rPr lang="nl-NL" smtClean="0"/>
              <a:t>8</a:t>
            </a:fld>
            <a:endParaRPr lang="nl-NL"/>
          </a:p>
        </p:txBody>
      </p:sp>
    </p:spTree>
    <p:extLst>
      <p:ext uri="{BB962C8B-B14F-4D97-AF65-F5344CB8AC3E}">
        <p14:creationId xmlns:p14="http://schemas.microsoft.com/office/powerpoint/2010/main" val="2184675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Johannesburg, built-up land cover is the primary driver of urban heat, strongly associated with higher UTFVI and cooler surface anomalies, while water and vegetation consistently mitigate thermal stress.</a:t>
            </a:r>
            <a:endParaRPr lang="en-GB" b="1" dirty="0"/>
          </a:p>
          <a:p>
            <a:r>
              <a:rPr lang="en-GB" b="1" dirty="0"/>
              <a:t>a) Temperature Anomaly Distribution by LULC (2020)</a:t>
            </a:r>
            <a:br>
              <a:rPr lang="en-GB" dirty="0"/>
            </a:br>
            <a:r>
              <a:rPr lang="en-GB" dirty="0"/>
              <a:t>In 2020, built-up areas in Johannesburg experienced the most consistent and pronounced negative temperature anomalies, while vegetation and water showed broader and less frequent cooler anomalies.</a:t>
            </a:r>
          </a:p>
          <a:p>
            <a:r>
              <a:rPr lang="en-GB" b="1" dirty="0"/>
              <a:t>b) UTFVI Distribution by LULC (2020)</a:t>
            </a:r>
            <a:br>
              <a:rPr lang="en-GB" dirty="0"/>
            </a:br>
            <a:r>
              <a:rPr lang="en-GB" dirty="0"/>
              <a:t>UTFVI values were highest and most positive in built-up areas, while vegetation and especially water had more negative values, indicating lower urban heat stress in natural land cover types.</a:t>
            </a:r>
          </a:p>
          <a:p>
            <a:r>
              <a:rPr lang="en-GB" b="1" dirty="0"/>
              <a:t>c) LULC Predictors vs UTFVI – Regression Plot</a:t>
            </a:r>
            <a:br>
              <a:rPr lang="en-GB" dirty="0"/>
            </a:br>
            <a:r>
              <a:rPr lang="en-GB" dirty="0"/>
              <a:t>Built-up areas showed the strongest positive correlation with UTFVI (r = 0.56), suggesting that increased urbanization significantly raises thermal stress, whereas water (r = -0.43) and vegetation (r = -0.36) were negatively correlated, confirming their cooling effects</a:t>
            </a:r>
          </a:p>
          <a:p>
            <a:endParaRPr lang="nl-NL" dirty="0"/>
          </a:p>
        </p:txBody>
      </p:sp>
      <p:sp>
        <p:nvSpPr>
          <p:cNvPr id="4" name="Slide Number Placeholder 3"/>
          <p:cNvSpPr>
            <a:spLocks noGrp="1"/>
          </p:cNvSpPr>
          <p:nvPr>
            <p:ph type="sldNum" sz="quarter" idx="5"/>
          </p:nvPr>
        </p:nvSpPr>
        <p:spPr/>
        <p:txBody>
          <a:bodyPr/>
          <a:lstStyle/>
          <a:p>
            <a:fld id="{CF211AA5-FF67-4171-A23C-F195C260B421}" type="slidenum">
              <a:rPr lang="nl-NL" smtClean="0"/>
              <a:t>9</a:t>
            </a:fld>
            <a:endParaRPr lang="nl-NL"/>
          </a:p>
        </p:txBody>
      </p:sp>
    </p:spTree>
    <p:extLst>
      <p:ext uri="{BB962C8B-B14F-4D97-AF65-F5344CB8AC3E}">
        <p14:creationId xmlns:p14="http://schemas.microsoft.com/office/powerpoint/2010/main" val="2303735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Across all cities, gains or persistence in built-up areas consistently drive higher UTFVI values, while loss of vegetation contributes to thermal stress, confirming urban expansion and vegetation decline as key contributors to rising heat vulnerability.</a:t>
            </a:r>
          </a:p>
          <a:p>
            <a:r>
              <a:rPr lang="en-GB" b="1" dirty="0"/>
              <a:t>a) Johannesburg (UTFVI Change by LULC Transition)</a:t>
            </a:r>
            <a:br>
              <a:rPr lang="en-GB" dirty="0"/>
            </a:br>
            <a:r>
              <a:rPr lang="en-GB" dirty="0"/>
              <a:t>In Johannesburg, stable built-up areas (code 11) and new gains in built land (code 1) are associated with positive UTFVI changes, suggesting increased urban heat stress.</a:t>
            </a:r>
          </a:p>
          <a:p>
            <a:r>
              <a:rPr lang="en-GB" b="1" dirty="0"/>
              <a:t>b) Nairobi (UTFVI Change by LULC Transition)</a:t>
            </a:r>
            <a:br>
              <a:rPr lang="en-GB" dirty="0"/>
            </a:br>
            <a:r>
              <a:rPr lang="en-GB" dirty="0"/>
              <a:t>Nairobi shows a mix of positive and negative UTFVI changes, but vegetation loss (code -1) consistently leads to increased thermal stress.</a:t>
            </a:r>
          </a:p>
          <a:p>
            <a:r>
              <a:rPr lang="en-GB" b="1" dirty="0"/>
              <a:t>c) Lagos (UTFVI Change by LULC Transition)</a:t>
            </a:r>
            <a:br>
              <a:rPr lang="en-GB" dirty="0"/>
            </a:br>
            <a:r>
              <a:rPr lang="en-GB" dirty="0"/>
              <a:t>Lagos exhibits relatively moderate UTFVI increases for both built and vegetation transitions, though built-up gains and stability (code 1 and 11) again show slight positive shifts.</a:t>
            </a:r>
          </a:p>
          <a:p>
            <a:r>
              <a:rPr lang="en-GB" b="1" dirty="0"/>
              <a:t>d) Kinshasa (UTFVI Change by LULC Transition)</a:t>
            </a:r>
            <a:br>
              <a:rPr lang="en-GB" dirty="0"/>
            </a:br>
            <a:r>
              <a:rPr lang="en-GB" dirty="0"/>
              <a:t>Kinshasa has the most dispersed pattern, but built-up gains and vegetation loss are associated with higher UTFVI values, implying emerging heat pressure.</a:t>
            </a:r>
          </a:p>
          <a:p>
            <a:r>
              <a:rPr lang="en-GB" b="1" dirty="0"/>
              <a:t>e) Pixel-wise Correlation (Johannesburg)</a:t>
            </a:r>
            <a:br>
              <a:rPr lang="en-GB" dirty="0"/>
            </a:br>
            <a:r>
              <a:rPr lang="en-GB" dirty="0"/>
              <a:t>In Johannesburg, built-up pixel gains are strongly positively correlated (r = 0.21) with increased UTFVI, while vegetation change has a weaker but significant negative correlation (r = -0.03).</a:t>
            </a:r>
          </a:p>
          <a:p>
            <a:r>
              <a:rPr lang="en-GB" b="1" dirty="0"/>
              <a:t>f) Regression Coefficients (All Cities)</a:t>
            </a:r>
            <a:br>
              <a:rPr lang="en-GB" dirty="0"/>
            </a:br>
            <a:r>
              <a:rPr lang="en-GB" dirty="0"/>
              <a:t>Regression results confirm that vegetation and water have a small but consistent cooling effect on UTFVI across all cities, with vegetation having a slightly stronger influence.</a:t>
            </a:r>
          </a:p>
          <a:p>
            <a:endParaRPr lang="nl-NL" dirty="0"/>
          </a:p>
        </p:txBody>
      </p:sp>
      <p:sp>
        <p:nvSpPr>
          <p:cNvPr id="4" name="Slide Number Placeholder 3"/>
          <p:cNvSpPr>
            <a:spLocks noGrp="1"/>
          </p:cNvSpPr>
          <p:nvPr>
            <p:ph type="sldNum" sz="quarter" idx="5"/>
          </p:nvPr>
        </p:nvSpPr>
        <p:spPr/>
        <p:txBody>
          <a:bodyPr/>
          <a:lstStyle/>
          <a:p>
            <a:fld id="{CF211AA5-FF67-4171-A23C-F195C260B421}" type="slidenum">
              <a:rPr lang="nl-NL" smtClean="0"/>
              <a:t>10</a:t>
            </a:fld>
            <a:endParaRPr lang="nl-NL"/>
          </a:p>
        </p:txBody>
      </p:sp>
    </p:spTree>
    <p:extLst>
      <p:ext uri="{BB962C8B-B14F-4D97-AF65-F5344CB8AC3E}">
        <p14:creationId xmlns:p14="http://schemas.microsoft.com/office/powerpoint/2010/main" val="2228011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Across all cities, built-up land consistently raises UTFVI values, while vegetation and water contribute to lowering urban thermal stress, though the strength of these effects varies by city.</a:t>
            </a:r>
          </a:p>
          <a:p>
            <a:r>
              <a:rPr lang="en-GB" b="1" dirty="0"/>
              <a:t>a) Nairobi</a:t>
            </a:r>
            <a:br>
              <a:rPr lang="en-GB" dirty="0"/>
            </a:br>
            <a:r>
              <a:rPr lang="en-GB" dirty="0"/>
              <a:t>In Nairobi, built-up areas have a strong positive influence on UTFVI, while vegetation and water both contribute to lowering thermal stress, as indicated by their negative slopes.</a:t>
            </a:r>
          </a:p>
          <a:p>
            <a:r>
              <a:rPr lang="en-GB" b="1" dirty="0"/>
              <a:t>b) Lagos</a:t>
            </a:r>
            <a:br>
              <a:rPr lang="en-GB" dirty="0"/>
            </a:br>
            <a:r>
              <a:rPr lang="en-GB" dirty="0" err="1"/>
              <a:t>Lagos</a:t>
            </a:r>
            <a:r>
              <a:rPr lang="en-GB" dirty="0"/>
              <a:t> exhibits weaker relationships, but the general trend still shows built-up areas increasing UTFVI and vegetation slightly reducing it, with minimal effect from water.</a:t>
            </a:r>
          </a:p>
          <a:p>
            <a:r>
              <a:rPr lang="en-GB" b="1" dirty="0"/>
              <a:t>c) Johannesburg</a:t>
            </a:r>
            <a:br>
              <a:rPr lang="en-GB" dirty="0"/>
            </a:br>
            <a:r>
              <a:rPr lang="en-GB" dirty="0" err="1"/>
              <a:t>Johannesburg</a:t>
            </a:r>
            <a:r>
              <a:rPr lang="en-GB" dirty="0"/>
              <a:t> shows the clearest negative relationship between water and UTFVI, alongside strong positive effects from built-up areas and moderate cooling from vegetation.</a:t>
            </a:r>
          </a:p>
          <a:p>
            <a:r>
              <a:rPr lang="en-GB" b="1" dirty="0"/>
              <a:t>d) Kinshasa</a:t>
            </a:r>
            <a:br>
              <a:rPr lang="en-GB" dirty="0"/>
            </a:br>
            <a:r>
              <a:rPr lang="en-GB" dirty="0" err="1"/>
              <a:t>Kinshasa</a:t>
            </a:r>
            <a:r>
              <a:rPr lang="en-GB" dirty="0"/>
              <a:t> demonstrates relatively flat trends, suggesting weaker associations overall, but built-up areas still slightly elevate UTFVI while vegetation and water have marginal cooling effects.</a:t>
            </a:r>
          </a:p>
          <a:p>
            <a:endParaRPr lang="nl-NL" dirty="0"/>
          </a:p>
        </p:txBody>
      </p:sp>
      <p:sp>
        <p:nvSpPr>
          <p:cNvPr id="4" name="Slide Number Placeholder 3"/>
          <p:cNvSpPr>
            <a:spLocks noGrp="1"/>
          </p:cNvSpPr>
          <p:nvPr>
            <p:ph type="sldNum" sz="quarter" idx="5"/>
          </p:nvPr>
        </p:nvSpPr>
        <p:spPr/>
        <p:txBody>
          <a:bodyPr/>
          <a:lstStyle/>
          <a:p>
            <a:fld id="{CF211AA5-FF67-4171-A23C-F195C260B421}" type="slidenum">
              <a:rPr lang="nl-NL" smtClean="0"/>
              <a:t>11</a:t>
            </a:fld>
            <a:endParaRPr lang="nl-NL"/>
          </a:p>
        </p:txBody>
      </p:sp>
    </p:spTree>
    <p:extLst>
      <p:ext uri="{BB962C8B-B14F-4D97-AF65-F5344CB8AC3E}">
        <p14:creationId xmlns:p14="http://schemas.microsoft.com/office/powerpoint/2010/main" val="370669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80C5-FAB4-4A66-4976-2F439BF9DC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AB4D39CE-D81A-227E-73FD-FB5E5BF924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62316AB8-4570-1345-4D53-93D193DE0066}"/>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5" name="Footer Placeholder 4">
            <a:extLst>
              <a:ext uri="{FF2B5EF4-FFF2-40B4-BE49-F238E27FC236}">
                <a16:creationId xmlns:a16="http://schemas.microsoft.com/office/drawing/2014/main" id="{2E932C76-FFE5-DF41-38B3-D33591895EEF}"/>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11DA2ADC-2078-898C-48EA-853C039FDB8C}"/>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3865285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FC787-5894-E3E4-1D27-71F83FB410B2}"/>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47415244-FFDD-717A-1977-09A0FBCA0B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E8F4AEB7-AE93-31F9-5ED1-4D43F16A9340}"/>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5" name="Footer Placeholder 4">
            <a:extLst>
              <a:ext uri="{FF2B5EF4-FFF2-40B4-BE49-F238E27FC236}">
                <a16:creationId xmlns:a16="http://schemas.microsoft.com/office/drawing/2014/main" id="{8414D082-F38A-826B-2942-691010D3C7A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9C59FAC3-1805-1BAE-BD44-794F50ED6A11}"/>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2683174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2E64-3395-6A84-7868-69E4EF6C82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343E87A1-FBAB-1410-53D2-AF59A96BD5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FF2765-C051-0763-4138-855CFA7B3E20}"/>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5" name="Footer Placeholder 4">
            <a:extLst>
              <a:ext uri="{FF2B5EF4-FFF2-40B4-BE49-F238E27FC236}">
                <a16:creationId xmlns:a16="http://schemas.microsoft.com/office/drawing/2014/main" id="{A2829D98-FD66-6D95-4517-0E5535CE6626}"/>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164AD7D5-6789-2FE3-1110-F413118B37B2}"/>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3210313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9A7C0-071F-39E9-B5D9-0F0941FB776E}"/>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6D6DC5AA-5238-066F-3F37-BC84CEF7CD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4074DB42-C287-E352-7C9A-F3769DF15F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F8BC0A0A-7544-AC4C-6F34-5FBCEE37A0E6}"/>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6" name="Footer Placeholder 5">
            <a:extLst>
              <a:ext uri="{FF2B5EF4-FFF2-40B4-BE49-F238E27FC236}">
                <a16:creationId xmlns:a16="http://schemas.microsoft.com/office/drawing/2014/main" id="{C625CB14-50EA-9BBE-5A7C-02482ACBF623}"/>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68566FFB-EDC8-8C4B-14AB-39E344774932}"/>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14896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813BF-C48C-DD9F-2245-5A17DD2F6D94}"/>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C7272CFB-756C-C4DF-6AC0-AB840BF2DF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1B017A-CF6E-00A8-1E60-D8638323A9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B1827394-414A-ED4C-84DA-CC9CFD0837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B96FD6-C08C-AFA6-9332-3721AED108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066242D1-458B-6E12-9419-2E0EF6BC4D95}"/>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8" name="Footer Placeholder 7">
            <a:extLst>
              <a:ext uri="{FF2B5EF4-FFF2-40B4-BE49-F238E27FC236}">
                <a16:creationId xmlns:a16="http://schemas.microsoft.com/office/drawing/2014/main" id="{12742827-425E-2E05-26E9-DA465517027C}"/>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72571F6F-C5B8-55BC-178D-556C809A867E}"/>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312245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C609E-8D2A-C956-851D-6FE06BFEAAD1}"/>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2851E2F4-2B83-4C69-8EEE-B81DF69E24F5}"/>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4" name="Footer Placeholder 3">
            <a:extLst>
              <a:ext uri="{FF2B5EF4-FFF2-40B4-BE49-F238E27FC236}">
                <a16:creationId xmlns:a16="http://schemas.microsoft.com/office/drawing/2014/main" id="{2DF3412B-55E1-957A-7108-8330CD907EED}"/>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540EF3EF-8E4A-D7F9-B19C-B7036BBB4809}"/>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236864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6A12A-89C9-8399-8A09-714B7392E23F}"/>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3" name="Footer Placeholder 2">
            <a:extLst>
              <a:ext uri="{FF2B5EF4-FFF2-40B4-BE49-F238E27FC236}">
                <a16:creationId xmlns:a16="http://schemas.microsoft.com/office/drawing/2014/main" id="{2FE5163F-3B1B-6708-119B-9E74DF6042CC}"/>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D679316D-5FEB-1EB1-A05E-8ADE6405640A}"/>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1045581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2F253-A6FE-6E63-01BF-EFABC4ED8A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E231471F-91FC-0EB3-5860-0C3A962E4D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22F391D1-FCC0-FFB3-3CB9-649454807F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172BFF-5155-FA9A-3457-B0084A733CF0}"/>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6" name="Footer Placeholder 5">
            <a:extLst>
              <a:ext uri="{FF2B5EF4-FFF2-40B4-BE49-F238E27FC236}">
                <a16:creationId xmlns:a16="http://schemas.microsoft.com/office/drawing/2014/main" id="{03E4E316-A599-70EC-B052-5AE6FA6F963C}"/>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3BD83BDA-E5B5-F5CD-E707-4121267963C0}"/>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2382938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F6EC-1D24-77B5-C1C6-B22091D41D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4D5B3634-4379-D122-9660-D5E048FDFE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DA0DA1EC-D271-DB64-68C2-1C4B791D8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889871-21D2-8C6E-76F8-87ABE6C50F9C}"/>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6" name="Footer Placeholder 5">
            <a:extLst>
              <a:ext uri="{FF2B5EF4-FFF2-40B4-BE49-F238E27FC236}">
                <a16:creationId xmlns:a16="http://schemas.microsoft.com/office/drawing/2014/main" id="{1C90A244-EF1F-358E-A68F-AFBCB3753F31}"/>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45466B00-7987-1CCF-1332-B3D79F0026B5}"/>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4223848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8C4E-1E6E-623F-7DB3-D6EC8009C396}"/>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F119790E-56CB-D1B3-A1E1-20188BF7C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5E68C1B0-C053-1BD7-6757-AC4ABDFB053D}"/>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5" name="Footer Placeholder 4">
            <a:extLst>
              <a:ext uri="{FF2B5EF4-FFF2-40B4-BE49-F238E27FC236}">
                <a16:creationId xmlns:a16="http://schemas.microsoft.com/office/drawing/2014/main" id="{3B95D1EC-38CD-4D91-3AFD-62CFA5353772}"/>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983646CF-A261-A547-34E1-4F9F11BF751A}"/>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2320868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D7F8A3-152B-BB6D-AB7D-29BD9EFA98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DD67B823-9F24-CBD3-7FB6-0D3FC872D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544BAEA7-B841-745E-40A4-833EE6B7AE37}"/>
              </a:ext>
            </a:extLst>
          </p:cNvPr>
          <p:cNvSpPr>
            <a:spLocks noGrp="1"/>
          </p:cNvSpPr>
          <p:nvPr>
            <p:ph type="dt" sz="half" idx="10"/>
          </p:nvPr>
        </p:nvSpPr>
        <p:spPr/>
        <p:txBody>
          <a:bodyPr/>
          <a:lstStyle/>
          <a:p>
            <a:fld id="{12C49015-4FBB-41D0-8620-221B27226985}" type="datetimeFigureOut">
              <a:rPr lang="nl-NL" smtClean="0"/>
              <a:t>2-5-2025</a:t>
            </a:fld>
            <a:endParaRPr lang="nl-NL"/>
          </a:p>
        </p:txBody>
      </p:sp>
      <p:sp>
        <p:nvSpPr>
          <p:cNvPr id="5" name="Footer Placeholder 4">
            <a:extLst>
              <a:ext uri="{FF2B5EF4-FFF2-40B4-BE49-F238E27FC236}">
                <a16:creationId xmlns:a16="http://schemas.microsoft.com/office/drawing/2014/main" id="{F606E31D-DDD4-8619-2682-02DDE3ED5E31}"/>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99FDE292-51E2-6212-F6EB-B4B6B4113A0C}"/>
              </a:ext>
            </a:extLst>
          </p:cNvPr>
          <p:cNvSpPr>
            <a:spLocks noGrp="1"/>
          </p:cNvSpPr>
          <p:nvPr>
            <p:ph type="sldNum" sz="quarter" idx="12"/>
          </p:nvPr>
        </p:nvSpPr>
        <p:spPr/>
        <p:txBody>
          <a:bodyPr/>
          <a:lstStyle/>
          <a:p>
            <a:fld id="{AF7C6178-4748-4021-B96C-88EE4A2E12B4}" type="slidenum">
              <a:rPr lang="nl-NL" smtClean="0"/>
              <a:t>‹#›</a:t>
            </a:fld>
            <a:endParaRPr lang="nl-NL"/>
          </a:p>
        </p:txBody>
      </p:sp>
    </p:spTree>
    <p:extLst>
      <p:ext uri="{BB962C8B-B14F-4D97-AF65-F5344CB8AC3E}">
        <p14:creationId xmlns:p14="http://schemas.microsoft.com/office/powerpoint/2010/main" val="2213532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050CE2-5CF4-902C-BD08-046379861F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0622A5F9-1A98-1F14-1B44-094C8F6F16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AFC126A8-1965-2ECD-7869-0D565E1A4D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C49015-4FBB-41D0-8620-221B27226985}" type="datetimeFigureOut">
              <a:rPr lang="nl-NL" smtClean="0"/>
              <a:t>2-5-2025</a:t>
            </a:fld>
            <a:endParaRPr lang="nl-NL"/>
          </a:p>
        </p:txBody>
      </p:sp>
      <p:sp>
        <p:nvSpPr>
          <p:cNvPr id="5" name="Footer Placeholder 4">
            <a:extLst>
              <a:ext uri="{FF2B5EF4-FFF2-40B4-BE49-F238E27FC236}">
                <a16:creationId xmlns:a16="http://schemas.microsoft.com/office/drawing/2014/main" id="{FDE78B0A-3082-9562-7DB0-D67AC11827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Slide Number Placeholder 5">
            <a:extLst>
              <a:ext uri="{FF2B5EF4-FFF2-40B4-BE49-F238E27FC236}">
                <a16:creationId xmlns:a16="http://schemas.microsoft.com/office/drawing/2014/main" id="{C8FE0B7B-8E37-DD57-450B-2E70F1812F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7C6178-4748-4021-B96C-88EE4A2E12B4}" type="slidenum">
              <a:rPr lang="nl-NL" smtClean="0"/>
              <a:t>‹#›</a:t>
            </a:fld>
            <a:endParaRPr lang="nl-NL"/>
          </a:p>
        </p:txBody>
      </p:sp>
    </p:spTree>
    <p:extLst>
      <p:ext uri="{BB962C8B-B14F-4D97-AF65-F5344CB8AC3E}">
        <p14:creationId xmlns:p14="http://schemas.microsoft.com/office/powerpoint/2010/main" val="113024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1E1C8A-412C-1888-A270-E2AB26081734}"/>
              </a:ext>
            </a:extLst>
          </p:cNvPr>
          <p:cNvGrpSpPr/>
          <p:nvPr/>
        </p:nvGrpSpPr>
        <p:grpSpPr>
          <a:xfrm>
            <a:off x="556696" y="0"/>
            <a:ext cx="11062315" cy="6858000"/>
            <a:chOff x="556696" y="0"/>
            <a:chExt cx="11062315" cy="6858000"/>
          </a:xfrm>
        </p:grpSpPr>
        <p:pic>
          <p:nvPicPr>
            <p:cNvPr id="5" name="Picture 4">
              <a:extLst>
                <a:ext uri="{FF2B5EF4-FFF2-40B4-BE49-F238E27FC236}">
                  <a16:creationId xmlns:a16="http://schemas.microsoft.com/office/drawing/2014/main" id="{C7CA17EA-66DF-C264-5B69-20BE4A0B40E2}"/>
                </a:ext>
              </a:extLst>
            </p:cNvPr>
            <p:cNvPicPr>
              <a:picLocks noChangeAspect="1"/>
            </p:cNvPicPr>
            <p:nvPr/>
          </p:nvPicPr>
          <p:blipFill>
            <a:blip r:embed="rId2"/>
            <a:stretch>
              <a:fillRect/>
            </a:stretch>
          </p:blipFill>
          <p:spPr>
            <a:xfrm>
              <a:off x="572988" y="0"/>
              <a:ext cx="11046023" cy="6858000"/>
            </a:xfrm>
            <a:prstGeom prst="rect">
              <a:avLst/>
            </a:prstGeom>
          </p:spPr>
        </p:pic>
        <p:sp>
          <p:nvSpPr>
            <p:cNvPr id="2" name="TextBox 1">
              <a:extLst>
                <a:ext uri="{FF2B5EF4-FFF2-40B4-BE49-F238E27FC236}">
                  <a16:creationId xmlns:a16="http://schemas.microsoft.com/office/drawing/2014/main" id="{308F1285-5198-B011-B84D-971B989D1D92}"/>
                </a:ext>
              </a:extLst>
            </p:cNvPr>
            <p:cNvSpPr txBox="1"/>
            <p:nvPr/>
          </p:nvSpPr>
          <p:spPr>
            <a:xfrm>
              <a:off x="556696" y="333494"/>
              <a:ext cx="375920" cy="369332"/>
            </a:xfrm>
            <a:prstGeom prst="rect">
              <a:avLst/>
            </a:prstGeom>
            <a:noFill/>
          </p:spPr>
          <p:txBody>
            <a:bodyPr wrap="square" rtlCol="0">
              <a:spAutoFit/>
            </a:bodyPr>
            <a:lstStyle/>
            <a:p>
              <a:r>
                <a:rPr lang="en-US" dirty="0"/>
                <a:t>a)</a:t>
              </a:r>
              <a:endParaRPr lang="nl-NL" dirty="0"/>
            </a:p>
          </p:txBody>
        </p:sp>
        <p:sp>
          <p:nvSpPr>
            <p:cNvPr id="3" name="TextBox 2">
              <a:extLst>
                <a:ext uri="{FF2B5EF4-FFF2-40B4-BE49-F238E27FC236}">
                  <a16:creationId xmlns:a16="http://schemas.microsoft.com/office/drawing/2014/main" id="{BF2A7C26-A1E4-E685-ADA1-2234637E7CE6}"/>
                </a:ext>
              </a:extLst>
            </p:cNvPr>
            <p:cNvSpPr txBox="1"/>
            <p:nvPr/>
          </p:nvSpPr>
          <p:spPr>
            <a:xfrm>
              <a:off x="5588782" y="303014"/>
              <a:ext cx="433531" cy="369332"/>
            </a:xfrm>
            <a:prstGeom prst="rect">
              <a:avLst/>
            </a:prstGeom>
            <a:noFill/>
          </p:spPr>
          <p:txBody>
            <a:bodyPr wrap="square" rtlCol="0">
              <a:spAutoFit/>
            </a:bodyPr>
            <a:lstStyle/>
            <a:p>
              <a:r>
                <a:rPr lang="en-US" dirty="0"/>
                <a:t>b)</a:t>
              </a:r>
              <a:endParaRPr lang="nl-NL" dirty="0"/>
            </a:p>
          </p:txBody>
        </p:sp>
        <p:sp>
          <p:nvSpPr>
            <p:cNvPr id="4" name="TextBox 3">
              <a:extLst>
                <a:ext uri="{FF2B5EF4-FFF2-40B4-BE49-F238E27FC236}">
                  <a16:creationId xmlns:a16="http://schemas.microsoft.com/office/drawing/2014/main" id="{F9425B4F-D379-0EBA-4209-493EB1D68684}"/>
                </a:ext>
              </a:extLst>
            </p:cNvPr>
            <p:cNvSpPr txBox="1"/>
            <p:nvPr/>
          </p:nvSpPr>
          <p:spPr>
            <a:xfrm>
              <a:off x="671186" y="3534604"/>
              <a:ext cx="375920" cy="369332"/>
            </a:xfrm>
            <a:prstGeom prst="rect">
              <a:avLst/>
            </a:prstGeom>
            <a:noFill/>
          </p:spPr>
          <p:txBody>
            <a:bodyPr wrap="square" rtlCol="0">
              <a:spAutoFit/>
            </a:bodyPr>
            <a:lstStyle/>
            <a:p>
              <a:r>
                <a:rPr lang="en-US" dirty="0"/>
                <a:t>c)</a:t>
              </a:r>
              <a:endParaRPr lang="nl-NL" dirty="0"/>
            </a:p>
          </p:txBody>
        </p:sp>
        <p:sp>
          <p:nvSpPr>
            <p:cNvPr id="6" name="TextBox 5">
              <a:extLst>
                <a:ext uri="{FF2B5EF4-FFF2-40B4-BE49-F238E27FC236}">
                  <a16:creationId xmlns:a16="http://schemas.microsoft.com/office/drawing/2014/main" id="{8150A24F-1B76-6A5D-E0ED-557CDE604044}"/>
                </a:ext>
              </a:extLst>
            </p:cNvPr>
            <p:cNvSpPr txBox="1"/>
            <p:nvPr/>
          </p:nvSpPr>
          <p:spPr>
            <a:xfrm>
              <a:off x="6022313" y="3508849"/>
              <a:ext cx="433531" cy="369332"/>
            </a:xfrm>
            <a:prstGeom prst="rect">
              <a:avLst/>
            </a:prstGeom>
            <a:noFill/>
          </p:spPr>
          <p:txBody>
            <a:bodyPr wrap="square" rtlCol="0">
              <a:spAutoFit/>
            </a:bodyPr>
            <a:lstStyle/>
            <a:p>
              <a:r>
                <a:rPr lang="en-US" dirty="0"/>
                <a:t>d)</a:t>
              </a:r>
              <a:endParaRPr lang="nl-NL" dirty="0"/>
            </a:p>
          </p:txBody>
        </p:sp>
      </p:grpSp>
    </p:spTree>
    <p:extLst>
      <p:ext uri="{BB962C8B-B14F-4D97-AF65-F5344CB8AC3E}">
        <p14:creationId xmlns:p14="http://schemas.microsoft.com/office/powerpoint/2010/main" val="1787045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AFC0572-1F18-C8E5-8A9A-446B39C915C3}"/>
              </a:ext>
            </a:extLst>
          </p:cNvPr>
          <p:cNvGrpSpPr/>
          <p:nvPr/>
        </p:nvGrpSpPr>
        <p:grpSpPr>
          <a:xfrm>
            <a:off x="200025" y="237306"/>
            <a:ext cx="11791950" cy="6211119"/>
            <a:chOff x="200025" y="237306"/>
            <a:chExt cx="11791950" cy="6211119"/>
          </a:xfrm>
        </p:grpSpPr>
        <p:pic>
          <p:nvPicPr>
            <p:cNvPr id="5" name="Picture 4">
              <a:extLst>
                <a:ext uri="{FF2B5EF4-FFF2-40B4-BE49-F238E27FC236}">
                  <a16:creationId xmlns:a16="http://schemas.microsoft.com/office/drawing/2014/main" id="{73C35B72-1607-8968-919C-39D108BADC71}"/>
                </a:ext>
              </a:extLst>
            </p:cNvPr>
            <p:cNvPicPr>
              <a:picLocks noChangeAspect="1"/>
            </p:cNvPicPr>
            <p:nvPr/>
          </p:nvPicPr>
          <p:blipFill>
            <a:blip r:embed="rId2"/>
            <a:stretch>
              <a:fillRect/>
            </a:stretch>
          </p:blipFill>
          <p:spPr>
            <a:xfrm>
              <a:off x="200025" y="409575"/>
              <a:ext cx="11791950" cy="6038850"/>
            </a:xfrm>
            <a:prstGeom prst="rect">
              <a:avLst/>
            </a:prstGeom>
          </p:spPr>
        </p:pic>
        <p:sp>
          <p:nvSpPr>
            <p:cNvPr id="2" name="TextBox 1">
              <a:extLst>
                <a:ext uri="{FF2B5EF4-FFF2-40B4-BE49-F238E27FC236}">
                  <a16:creationId xmlns:a16="http://schemas.microsoft.com/office/drawing/2014/main" id="{29DA8EBD-2CE8-E098-18B6-771F5CDD8E14}"/>
                </a:ext>
              </a:extLst>
            </p:cNvPr>
            <p:cNvSpPr txBox="1"/>
            <p:nvPr/>
          </p:nvSpPr>
          <p:spPr>
            <a:xfrm>
              <a:off x="200472" y="237306"/>
              <a:ext cx="375920" cy="369332"/>
            </a:xfrm>
            <a:prstGeom prst="rect">
              <a:avLst/>
            </a:prstGeom>
            <a:noFill/>
          </p:spPr>
          <p:txBody>
            <a:bodyPr wrap="square" rtlCol="0">
              <a:spAutoFit/>
            </a:bodyPr>
            <a:lstStyle/>
            <a:p>
              <a:r>
                <a:rPr lang="en-US" dirty="0"/>
                <a:t>a)</a:t>
              </a:r>
              <a:endParaRPr lang="nl-NL" dirty="0"/>
            </a:p>
          </p:txBody>
        </p:sp>
        <p:sp>
          <p:nvSpPr>
            <p:cNvPr id="3" name="TextBox 2">
              <a:extLst>
                <a:ext uri="{FF2B5EF4-FFF2-40B4-BE49-F238E27FC236}">
                  <a16:creationId xmlns:a16="http://schemas.microsoft.com/office/drawing/2014/main" id="{E7323A9E-2F63-F3A6-2926-458D08D35441}"/>
                </a:ext>
              </a:extLst>
            </p:cNvPr>
            <p:cNvSpPr txBox="1"/>
            <p:nvPr/>
          </p:nvSpPr>
          <p:spPr>
            <a:xfrm>
              <a:off x="5850428" y="237306"/>
              <a:ext cx="433531" cy="369332"/>
            </a:xfrm>
            <a:prstGeom prst="rect">
              <a:avLst/>
            </a:prstGeom>
            <a:noFill/>
          </p:spPr>
          <p:txBody>
            <a:bodyPr wrap="square" rtlCol="0">
              <a:spAutoFit/>
            </a:bodyPr>
            <a:lstStyle/>
            <a:p>
              <a:r>
                <a:rPr lang="en-US" dirty="0"/>
                <a:t>b)</a:t>
              </a:r>
              <a:endParaRPr lang="nl-NL" dirty="0"/>
            </a:p>
          </p:txBody>
        </p:sp>
        <p:sp>
          <p:nvSpPr>
            <p:cNvPr id="4" name="TextBox 3">
              <a:extLst>
                <a:ext uri="{FF2B5EF4-FFF2-40B4-BE49-F238E27FC236}">
                  <a16:creationId xmlns:a16="http://schemas.microsoft.com/office/drawing/2014/main" id="{37E1EF98-2184-C560-CAFA-4925AE870505}"/>
                </a:ext>
              </a:extLst>
            </p:cNvPr>
            <p:cNvSpPr txBox="1"/>
            <p:nvPr/>
          </p:nvSpPr>
          <p:spPr>
            <a:xfrm>
              <a:off x="200025" y="4044600"/>
              <a:ext cx="375920" cy="369332"/>
            </a:xfrm>
            <a:prstGeom prst="rect">
              <a:avLst/>
            </a:prstGeom>
            <a:noFill/>
          </p:spPr>
          <p:txBody>
            <a:bodyPr wrap="square" rtlCol="0">
              <a:spAutoFit/>
            </a:bodyPr>
            <a:lstStyle/>
            <a:p>
              <a:r>
                <a:rPr lang="en-US" dirty="0"/>
                <a:t>c)</a:t>
              </a:r>
              <a:endParaRPr lang="nl-NL" dirty="0"/>
            </a:p>
          </p:txBody>
        </p:sp>
        <p:sp>
          <p:nvSpPr>
            <p:cNvPr id="6" name="TextBox 5">
              <a:extLst>
                <a:ext uri="{FF2B5EF4-FFF2-40B4-BE49-F238E27FC236}">
                  <a16:creationId xmlns:a16="http://schemas.microsoft.com/office/drawing/2014/main" id="{E1156A50-82B9-EA3B-428C-FF7D29A4C8B5}"/>
                </a:ext>
              </a:extLst>
            </p:cNvPr>
            <p:cNvSpPr txBox="1"/>
            <p:nvPr/>
          </p:nvSpPr>
          <p:spPr>
            <a:xfrm>
              <a:off x="6067194" y="4044600"/>
              <a:ext cx="433531" cy="369332"/>
            </a:xfrm>
            <a:prstGeom prst="rect">
              <a:avLst/>
            </a:prstGeom>
            <a:noFill/>
          </p:spPr>
          <p:txBody>
            <a:bodyPr wrap="square" rtlCol="0">
              <a:spAutoFit/>
            </a:bodyPr>
            <a:lstStyle/>
            <a:p>
              <a:r>
                <a:rPr lang="en-US" dirty="0"/>
                <a:t>d)</a:t>
              </a:r>
              <a:endParaRPr lang="nl-NL" dirty="0"/>
            </a:p>
          </p:txBody>
        </p:sp>
      </p:grpSp>
    </p:spTree>
    <p:extLst>
      <p:ext uri="{BB962C8B-B14F-4D97-AF65-F5344CB8AC3E}">
        <p14:creationId xmlns:p14="http://schemas.microsoft.com/office/powerpoint/2010/main" val="3032026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4268E94E-D925-7731-1AA2-B20E5EC7C14A}"/>
              </a:ext>
            </a:extLst>
          </p:cNvPr>
          <p:cNvGrpSpPr/>
          <p:nvPr/>
        </p:nvGrpSpPr>
        <p:grpSpPr>
          <a:xfrm>
            <a:off x="1373952" y="0"/>
            <a:ext cx="9152687" cy="6858000"/>
            <a:chOff x="1373952" y="0"/>
            <a:chExt cx="9152687" cy="6858000"/>
          </a:xfrm>
        </p:grpSpPr>
        <p:pic>
          <p:nvPicPr>
            <p:cNvPr id="5" name="Picture 4">
              <a:extLst>
                <a:ext uri="{FF2B5EF4-FFF2-40B4-BE49-F238E27FC236}">
                  <a16:creationId xmlns:a16="http://schemas.microsoft.com/office/drawing/2014/main" id="{70BF40F3-13FE-CF4B-D79A-F16290B50A64}"/>
                </a:ext>
              </a:extLst>
            </p:cNvPr>
            <p:cNvPicPr>
              <a:picLocks noChangeAspect="1"/>
            </p:cNvPicPr>
            <p:nvPr/>
          </p:nvPicPr>
          <p:blipFill>
            <a:blip r:embed="rId2"/>
            <a:stretch>
              <a:fillRect/>
            </a:stretch>
          </p:blipFill>
          <p:spPr>
            <a:xfrm>
              <a:off x="1665360" y="0"/>
              <a:ext cx="8861279" cy="6858000"/>
            </a:xfrm>
            <a:prstGeom prst="rect">
              <a:avLst/>
            </a:prstGeom>
          </p:spPr>
        </p:pic>
        <p:sp>
          <p:nvSpPr>
            <p:cNvPr id="2" name="TextBox 1">
              <a:extLst>
                <a:ext uri="{FF2B5EF4-FFF2-40B4-BE49-F238E27FC236}">
                  <a16:creationId xmlns:a16="http://schemas.microsoft.com/office/drawing/2014/main" id="{FE9238D6-A74D-A1B3-E7AF-8297FC577CF3}"/>
                </a:ext>
              </a:extLst>
            </p:cNvPr>
            <p:cNvSpPr txBox="1"/>
            <p:nvPr/>
          </p:nvSpPr>
          <p:spPr>
            <a:xfrm>
              <a:off x="1477400" y="405278"/>
              <a:ext cx="375920" cy="369332"/>
            </a:xfrm>
            <a:prstGeom prst="rect">
              <a:avLst/>
            </a:prstGeom>
            <a:noFill/>
          </p:spPr>
          <p:txBody>
            <a:bodyPr wrap="square" rtlCol="0">
              <a:spAutoFit/>
            </a:bodyPr>
            <a:lstStyle/>
            <a:p>
              <a:r>
                <a:rPr lang="en-US" dirty="0"/>
                <a:t>a)</a:t>
              </a:r>
              <a:endParaRPr lang="nl-NL" dirty="0"/>
            </a:p>
          </p:txBody>
        </p:sp>
        <p:sp>
          <p:nvSpPr>
            <p:cNvPr id="3" name="TextBox 2">
              <a:extLst>
                <a:ext uri="{FF2B5EF4-FFF2-40B4-BE49-F238E27FC236}">
                  <a16:creationId xmlns:a16="http://schemas.microsoft.com/office/drawing/2014/main" id="{C077A244-F58A-3AB2-9C8D-07196C877BB1}"/>
                </a:ext>
              </a:extLst>
            </p:cNvPr>
            <p:cNvSpPr txBox="1"/>
            <p:nvPr/>
          </p:nvSpPr>
          <p:spPr>
            <a:xfrm>
              <a:off x="6095999" y="410026"/>
              <a:ext cx="433531" cy="369332"/>
            </a:xfrm>
            <a:prstGeom prst="rect">
              <a:avLst/>
            </a:prstGeom>
            <a:noFill/>
          </p:spPr>
          <p:txBody>
            <a:bodyPr wrap="square" rtlCol="0">
              <a:spAutoFit/>
            </a:bodyPr>
            <a:lstStyle/>
            <a:p>
              <a:r>
                <a:rPr lang="en-US" dirty="0"/>
                <a:t>b)</a:t>
              </a:r>
              <a:endParaRPr lang="nl-NL" dirty="0"/>
            </a:p>
          </p:txBody>
        </p:sp>
        <p:sp>
          <p:nvSpPr>
            <p:cNvPr id="4" name="TextBox 3">
              <a:extLst>
                <a:ext uri="{FF2B5EF4-FFF2-40B4-BE49-F238E27FC236}">
                  <a16:creationId xmlns:a16="http://schemas.microsoft.com/office/drawing/2014/main" id="{6988A365-918C-843A-ED32-5F026E70EE2E}"/>
                </a:ext>
              </a:extLst>
            </p:cNvPr>
            <p:cNvSpPr txBox="1"/>
            <p:nvPr/>
          </p:nvSpPr>
          <p:spPr>
            <a:xfrm>
              <a:off x="1373952" y="3717484"/>
              <a:ext cx="375920" cy="369332"/>
            </a:xfrm>
            <a:prstGeom prst="rect">
              <a:avLst/>
            </a:prstGeom>
            <a:noFill/>
          </p:spPr>
          <p:txBody>
            <a:bodyPr wrap="square" rtlCol="0">
              <a:spAutoFit/>
            </a:bodyPr>
            <a:lstStyle/>
            <a:p>
              <a:r>
                <a:rPr lang="en-US" dirty="0"/>
                <a:t>c)</a:t>
              </a:r>
              <a:endParaRPr lang="nl-NL" dirty="0"/>
            </a:p>
          </p:txBody>
        </p:sp>
        <p:sp>
          <p:nvSpPr>
            <p:cNvPr id="6" name="TextBox 5">
              <a:extLst>
                <a:ext uri="{FF2B5EF4-FFF2-40B4-BE49-F238E27FC236}">
                  <a16:creationId xmlns:a16="http://schemas.microsoft.com/office/drawing/2014/main" id="{59B3D20F-EF12-AE57-1B8A-335728DBB308}"/>
                </a:ext>
              </a:extLst>
            </p:cNvPr>
            <p:cNvSpPr txBox="1"/>
            <p:nvPr/>
          </p:nvSpPr>
          <p:spPr>
            <a:xfrm>
              <a:off x="6235673" y="3681569"/>
              <a:ext cx="433531" cy="369332"/>
            </a:xfrm>
            <a:prstGeom prst="rect">
              <a:avLst/>
            </a:prstGeom>
            <a:noFill/>
          </p:spPr>
          <p:txBody>
            <a:bodyPr wrap="square" rtlCol="0">
              <a:spAutoFit/>
            </a:bodyPr>
            <a:lstStyle/>
            <a:p>
              <a:r>
                <a:rPr lang="en-US" dirty="0"/>
                <a:t>d)</a:t>
              </a:r>
              <a:endParaRPr lang="nl-NL" dirty="0"/>
            </a:p>
          </p:txBody>
        </p:sp>
      </p:grpSp>
    </p:spTree>
    <p:extLst>
      <p:ext uri="{BB962C8B-B14F-4D97-AF65-F5344CB8AC3E}">
        <p14:creationId xmlns:p14="http://schemas.microsoft.com/office/powerpoint/2010/main" val="3156988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E73A01B-2092-52A6-AE0C-7E6912583B15}"/>
              </a:ext>
            </a:extLst>
          </p:cNvPr>
          <p:cNvGrpSpPr/>
          <p:nvPr/>
        </p:nvGrpSpPr>
        <p:grpSpPr>
          <a:xfrm>
            <a:off x="296992" y="38198"/>
            <a:ext cx="11090356" cy="6710299"/>
            <a:chOff x="296992" y="38198"/>
            <a:chExt cx="11090356" cy="6710299"/>
          </a:xfrm>
        </p:grpSpPr>
        <p:pic>
          <p:nvPicPr>
            <p:cNvPr id="3" name="Picture 2">
              <a:extLst>
                <a:ext uri="{FF2B5EF4-FFF2-40B4-BE49-F238E27FC236}">
                  <a16:creationId xmlns:a16="http://schemas.microsoft.com/office/drawing/2014/main" id="{39642A5A-A614-567B-255F-9FE3EE94BA15}"/>
                </a:ext>
              </a:extLst>
            </p:cNvPr>
            <p:cNvPicPr>
              <a:picLocks noChangeAspect="1"/>
            </p:cNvPicPr>
            <p:nvPr/>
          </p:nvPicPr>
          <p:blipFill>
            <a:blip r:embed="rId3"/>
            <a:stretch>
              <a:fillRect/>
            </a:stretch>
          </p:blipFill>
          <p:spPr>
            <a:xfrm>
              <a:off x="6296690" y="3429000"/>
              <a:ext cx="5090658" cy="3160570"/>
            </a:xfrm>
            <a:prstGeom prst="rect">
              <a:avLst/>
            </a:prstGeom>
          </p:spPr>
        </p:pic>
        <p:pic>
          <p:nvPicPr>
            <p:cNvPr id="4" name="Picture 3">
              <a:extLst>
                <a:ext uri="{FF2B5EF4-FFF2-40B4-BE49-F238E27FC236}">
                  <a16:creationId xmlns:a16="http://schemas.microsoft.com/office/drawing/2014/main" id="{3028407F-0064-E630-2E5E-BF9DEF672AAD}"/>
                </a:ext>
              </a:extLst>
            </p:cNvPr>
            <p:cNvPicPr>
              <a:picLocks noChangeAspect="1"/>
            </p:cNvPicPr>
            <p:nvPr/>
          </p:nvPicPr>
          <p:blipFill>
            <a:blip r:embed="rId4"/>
            <a:stretch>
              <a:fillRect/>
            </a:stretch>
          </p:blipFill>
          <p:spPr>
            <a:xfrm>
              <a:off x="5952923" y="252779"/>
              <a:ext cx="5434425" cy="2783058"/>
            </a:xfrm>
            <a:prstGeom prst="rect">
              <a:avLst/>
            </a:prstGeom>
          </p:spPr>
        </p:pic>
        <p:pic>
          <p:nvPicPr>
            <p:cNvPr id="5" name="Picture 4">
              <a:extLst>
                <a:ext uri="{FF2B5EF4-FFF2-40B4-BE49-F238E27FC236}">
                  <a16:creationId xmlns:a16="http://schemas.microsoft.com/office/drawing/2014/main" id="{D3483F40-1A91-9E60-46FB-B3BF119E9A4D}"/>
                </a:ext>
              </a:extLst>
            </p:cNvPr>
            <p:cNvPicPr>
              <a:picLocks noChangeAspect="1"/>
            </p:cNvPicPr>
            <p:nvPr/>
          </p:nvPicPr>
          <p:blipFill>
            <a:blip r:embed="rId5"/>
            <a:stretch>
              <a:fillRect/>
            </a:stretch>
          </p:blipFill>
          <p:spPr>
            <a:xfrm>
              <a:off x="752678" y="3587927"/>
              <a:ext cx="4083799" cy="3160570"/>
            </a:xfrm>
            <a:prstGeom prst="rect">
              <a:avLst/>
            </a:prstGeom>
          </p:spPr>
        </p:pic>
        <p:pic>
          <p:nvPicPr>
            <p:cNvPr id="7" name="Picture 6">
              <a:extLst>
                <a:ext uri="{FF2B5EF4-FFF2-40B4-BE49-F238E27FC236}">
                  <a16:creationId xmlns:a16="http://schemas.microsoft.com/office/drawing/2014/main" id="{81A45E4F-1D74-3C33-5DCB-5F5722FD117C}"/>
                </a:ext>
              </a:extLst>
            </p:cNvPr>
            <p:cNvPicPr>
              <a:picLocks noChangeAspect="1"/>
            </p:cNvPicPr>
            <p:nvPr/>
          </p:nvPicPr>
          <p:blipFill>
            <a:blip r:embed="rId6"/>
            <a:stretch>
              <a:fillRect/>
            </a:stretch>
          </p:blipFill>
          <p:spPr>
            <a:xfrm>
              <a:off x="518498" y="117276"/>
              <a:ext cx="5434425" cy="3470651"/>
            </a:xfrm>
            <a:prstGeom prst="rect">
              <a:avLst/>
            </a:prstGeom>
          </p:spPr>
        </p:pic>
        <p:sp>
          <p:nvSpPr>
            <p:cNvPr id="2" name="TextBox 1">
              <a:extLst>
                <a:ext uri="{FF2B5EF4-FFF2-40B4-BE49-F238E27FC236}">
                  <a16:creationId xmlns:a16="http://schemas.microsoft.com/office/drawing/2014/main" id="{184952FB-D8EB-9FF4-0373-EBFA14BACBFA}"/>
                </a:ext>
              </a:extLst>
            </p:cNvPr>
            <p:cNvSpPr txBox="1"/>
            <p:nvPr/>
          </p:nvSpPr>
          <p:spPr>
            <a:xfrm>
              <a:off x="296992" y="38198"/>
              <a:ext cx="375920" cy="369332"/>
            </a:xfrm>
            <a:prstGeom prst="rect">
              <a:avLst/>
            </a:prstGeom>
            <a:noFill/>
          </p:spPr>
          <p:txBody>
            <a:bodyPr wrap="square" rtlCol="0">
              <a:spAutoFit/>
            </a:bodyPr>
            <a:lstStyle/>
            <a:p>
              <a:r>
                <a:rPr lang="en-US" dirty="0"/>
                <a:t>a)</a:t>
              </a:r>
              <a:endParaRPr lang="nl-NL" dirty="0"/>
            </a:p>
          </p:txBody>
        </p:sp>
        <p:sp>
          <p:nvSpPr>
            <p:cNvPr id="6" name="TextBox 5">
              <a:extLst>
                <a:ext uri="{FF2B5EF4-FFF2-40B4-BE49-F238E27FC236}">
                  <a16:creationId xmlns:a16="http://schemas.microsoft.com/office/drawing/2014/main" id="{0D6B52A0-F488-60D5-4A79-6F3B67DD7E2D}"/>
                </a:ext>
              </a:extLst>
            </p:cNvPr>
            <p:cNvSpPr txBox="1"/>
            <p:nvPr/>
          </p:nvSpPr>
          <p:spPr>
            <a:xfrm>
              <a:off x="5863158" y="68113"/>
              <a:ext cx="433531" cy="369332"/>
            </a:xfrm>
            <a:prstGeom prst="rect">
              <a:avLst/>
            </a:prstGeom>
            <a:noFill/>
          </p:spPr>
          <p:txBody>
            <a:bodyPr wrap="square" rtlCol="0">
              <a:spAutoFit/>
            </a:bodyPr>
            <a:lstStyle/>
            <a:p>
              <a:r>
                <a:rPr lang="en-US" dirty="0"/>
                <a:t>b)</a:t>
              </a:r>
              <a:endParaRPr lang="nl-NL" dirty="0"/>
            </a:p>
          </p:txBody>
        </p:sp>
        <p:sp>
          <p:nvSpPr>
            <p:cNvPr id="8" name="TextBox 7">
              <a:extLst>
                <a:ext uri="{FF2B5EF4-FFF2-40B4-BE49-F238E27FC236}">
                  <a16:creationId xmlns:a16="http://schemas.microsoft.com/office/drawing/2014/main" id="{7163F39A-319A-0FA3-10F0-56E9B7346F5B}"/>
                </a:ext>
              </a:extLst>
            </p:cNvPr>
            <p:cNvSpPr txBox="1"/>
            <p:nvPr/>
          </p:nvSpPr>
          <p:spPr>
            <a:xfrm>
              <a:off x="456147" y="3478934"/>
              <a:ext cx="375920" cy="369332"/>
            </a:xfrm>
            <a:prstGeom prst="rect">
              <a:avLst/>
            </a:prstGeom>
            <a:noFill/>
          </p:spPr>
          <p:txBody>
            <a:bodyPr wrap="square" rtlCol="0">
              <a:spAutoFit/>
            </a:bodyPr>
            <a:lstStyle/>
            <a:p>
              <a:r>
                <a:rPr lang="en-US" dirty="0"/>
                <a:t>c)</a:t>
              </a:r>
              <a:endParaRPr lang="nl-NL" dirty="0"/>
            </a:p>
          </p:txBody>
        </p:sp>
        <p:sp>
          <p:nvSpPr>
            <p:cNvPr id="9" name="TextBox 8">
              <a:extLst>
                <a:ext uri="{FF2B5EF4-FFF2-40B4-BE49-F238E27FC236}">
                  <a16:creationId xmlns:a16="http://schemas.microsoft.com/office/drawing/2014/main" id="{A42CF29A-64AA-6539-7C5D-D7729DB4D132}"/>
                </a:ext>
              </a:extLst>
            </p:cNvPr>
            <p:cNvSpPr txBox="1"/>
            <p:nvPr/>
          </p:nvSpPr>
          <p:spPr>
            <a:xfrm>
              <a:off x="6022313" y="3508849"/>
              <a:ext cx="433531" cy="369332"/>
            </a:xfrm>
            <a:prstGeom prst="rect">
              <a:avLst/>
            </a:prstGeom>
            <a:noFill/>
          </p:spPr>
          <p:txBody>
            <a:bodyPr wrap="square" rtlCol="0">
              <a:spAutoFit/>
            </a:bodyPr>
            <a:lstStyle/>
            <a:p>
              <a:r>
                <a:rPr lang="en-US" dirty="0"/>
                <a:t>d)</a:t>
              </a:r>
              <a:endParaRPr lang="nl-NL" dirty="0"/>
            </a:p>
          </p:txBody>
        </p:sp>
      </p:grpSp>
    </p:spTree>
    <p:extLst>
      <p:ext uri="{BB962C8B-B14F-4D97-AF65-F5344CB8AC3E}">
        <p14:creationId xmlns:p14="http://schemas.microsoft.com/office/powerpoint/2010/main" val="472822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C8675EF-9432-4856-873A-DEC7DE7096FE}"/>
              </a:ext>
            </a:extLst>
          </p:cNvPr>
          <p:cNvGrpSpPr/>
          <p:nvPr/>
        </p:nvGrpSpPr>
        <p:grpSpPr>
          <a:xfrm>
            <a:off x="296992" y="0"/>
            <a:ext cx="11135905" cy="6858000"/>
            <a:chOff x="296992" y="0"/>
            <a:chExt cx="11135905" cy="6858000"/>
          </a:xfrm>
        </p:grpSpPr>
        <p:pic>
          <p:nvPicPr>
            <p:cNvPr id="10" name="Picture 9">
              <a:extLst>
                <a:ext uri="{FF2B5EF4-FFF2-40B4-BE49-F238E27FC236}">
                  <a16:creationId xmlns:a16="http://schemas.microsoft.com/office/drawing/2014/main" id="{C1A6A3B6-8EA0-194D-3093-C04C25FA34AD}"/>
                </a:ext>
              </a:extLst>
            </p:cNvPr>
            <p:cNvPicPr>
              <a:picLocks noChangeAspect="1"/>
            </p:cNvPicPr>
            <p:nvPr/>
          </p:nvPicPr>
          <p:blipFill>
            <a:blip r:embed="rId2"/>
            <a:stretch>
              <a:fillRect/>
            </a:stretch>
          </p:blipFill>
          <p:spPr>
            <a:xfrm>
              <a:off x="749486" y="592944"/>
              <a:ext cx="4251588" cy="2536336"/>
            </a:xfrm>
            <a:prstGeom prst="rect">
              <a:avLst/>
            </a:prstGeom>
          </p:spPr>
        </p:pic>
        <p:pic>
          <p:nvPicPr>
            <p:cNvPr id="3" name="Picture 2">
              <a:extLst>
                <a:ext uri="{FF2B5EF4-FFF2-40B4-BE49-F238E27FC236}">
                  <a16:creationId xmlns:a16="http://schemas.microsoft.com/office/drawing/2014/main" id="{D119DCAE-9696-CADF-A443-AE43DDC2E141}"/>
                </a:ext>
              </a:extLst>
            </p:cNvPr>
            <p:cNvPicPr>
              <a:picLocks noChangeAspect="1"/>
            </p:cNvPicPr>
            <p:nvPr/>
          </p:nvPicPr>
          <p:blipFill>
            <a:blip r:embed="rId3"/>
            <a:stretch>
              <a:fillRect/>
            </a:stretch>
          </p:blipFill>
          <p:spPr>
            <a:xfrm>
              <a:off x="759102" y="0"/>
              <a:ext cx="10673795" cy="6858000"/>
            </a:xfrm>
            <a:prstGeom prst="rect">
              <a:avLst/>
            </a:prstGeom>
          </p:spPr>
        </p:pic>
        <p:sp>
          <p:nvSpPr>
            <p:cNvPr id="2" name="TextBox 1">
              <a:extLst>
                <a:ext uri="{FF2B5EF4-FFF2-40B4-BE49-F238E27FC236}">
                  <a16:creationId xmlns:a16="http://schemas.microsoft.com/office/drawing/2014/main" id="{518CC7F2-0DFF-8A83-2C69-CA17AB0C7B6E}"/>
                </a:ext>
              </a:extLst>
            </p:cNvPr>
            <p:cNvSpPr txBox="1"/>
            <p:nvPr/>
          </p:nvSpPr>
          <p:spPr>
            <a:xfrm>
              <a:off x="296992" y="38198"/>
              <a:ext cx="375920" cy="369332"/>
            </a:xfrm>
            <a:prstGeom prst="rect">
              <a:avLst/>
            </a:prstGeom>
            <a:noFill/>
          </p:spPr>
          <p:txBody>
            <a:bodyPr wrap="square" rtlCol="0">
              <a:spAutoFit/>
            </a:bodyPr>
            <a:lstStyle/>
            <a:p>
              <a:r>
                <a:rPr lang="en-US" dirty="0"/>
                <a:t>a)</a:t>
              </a:r>
              <a:endParaRPr lang="nl-NL" dirty="0"/>
            </a:p>
          </p:txBody>
        </p:sp>
        <p:sp>
          <p:nvSpPr>
            <p:cNvPr id="4" name="TextBox 3">
              <a:extLst>
                <a:ext uri="{FF2B5EF4-FFF2-40B4-BE49-F238E27FC236}">
                  <a16:creationId xmlns:a16="http://schemas.microsoft.com/office/drawing/2014/main" id="{0EDA08CE-A679-68C4-91C3-D0164DBB4369}"/>
                </a:ext>
              </a:extLst>
            </p:cNvPr>
            <p:cNvSpPr txBox="1"/>
            <p:nvPr/>
          </p:nvSpPr>
          <p:spPr>
            <a:xfrm>
              <a:off x="5863158" y="68113"/>
              <a:ext cx="433531" cy="369332"/>
            </a:xfrm>
            <a:prstGeom prst="rect">
              <a:avLst/>
            </a:prstGeom>
            <a:noFill/>
          </p:spPr>
          <p:txBody>
            <a:bodyPr wrap="square" rtlCol="0">
              <a:spAutoFit/>
            </a:bodyPr>
            <a:lstStyle/>
            <a:p>
              <a:r>
                <a:rPr lang="en-US" dirty="0"/>
                <a:t>b)</a:t>
              </a:r>
              <a:endParaRPr lang="nl-NL" dirty="0"/>
            </a:p>
          </p:txBody>
        </p:sp>
        <p:sp>
          <p:nvSpPr>
            <p:cNvPr id="5" name="TextBox 4">
              <a:extLst>
                <a:ext uri="{FF2B5EF4-FFF2-40B4-BE49-F238E27FC236}">
                  <a16:creationId xmlns:a16="http://schemas.microsoft.com/office/drawing/2014/main" id="{A09726C1-3927-3BDF-DB2F-A8E0B0B5F3E4}"/>
                </a:ext>
              </a:extLst>
            </p:cNvPr>
            <p:cNvSpPr txBox="1"/>
            <p:nvPr/>
          </p:nvSpPr>
          <p:spPr>
            <a:xfrm>
              <a:off x="456147" y="3478934"/>
              <a:ext cx="375920" cy="369332"/>
            </a:xfrm>
            <a:prstGeom prst="rect">
              <a:avLst/>
            </a:prstGeom>
            <a:noFill/>
          </p:spPr>
          <p:txBody>
            <a:bodyPr wrap="square" rtlCol="0">
              <a:spAutoFit/>
            </a:bodyPr>
            <a:lstStyle/>
            <a:p>
              <a:r>
                <a:rPr lang="en-US" dirty="0"/>
                <a:t>c)</a:t>
              </a:r>
              <a:endParaRPr lang="nl-NL" dirty="0"/>
            </a:p>
          </p:txBody>
        </p:sp>
        <p:sp>
          <p:nvSpPr>
            <p:cNvPr id="6" name="TextBox 5">
              <a:extLst>
                <a:ext uri="{FF2B5EF4-FFF2-40B4-BE49-F238E27FC236}">
                  <a16:creationId xmlns:a16="http://schemas.microsoft.com/office/drawing/2014/main" id="{955AD063-0EFE-EFD0-4CE4-9E3BAE26E588}"/>
                </a:ext>
              </a:extLst>
            </p:cNvPr>
            <p:cNvSpPr txBox="1"/>
            <p:nvPr/>
          </p:nvSpPr>
          <p:spPr>
            <a:xfrm>
              <a:off x="6022313" y="3417409"/>
              <a:ext cx="433531" cy="369332"/>
            </a:xfrm>
            <a:prstGeom prst="rect">
              <a:avLst/>
            </a:prstGeom>
            <a:noFill/>
          </p:spPr>
          <p:txBody>
            <a:bodyPr wrap="square" rtlCol="0">
              <a:spAutoFit/>
            </a:bodyPr>
            <a:lstStyle/>
            <a:p>
              <a:r>
                <a:rPr lang="en-US" dirty="0"/>
                <a:t>d)</a:t>
              </a:r>
              <a:endParaRPr lang="nl-NL" dirty="0"/>
            </a:p>
          </p:txBody>
        </p:sp>
      </p:grpSp>
    </p:spTree>
    <p:extLst>
      <p:ext uri="{BB962C8B-B14F-4D97-AF65-F5344CB8AC3E}">
        <p14:creationId xmlns:p14="http://schemas.microsoft.com/office/powerpoint/2010/main" val="740189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312BB59-A881-AB71-FF06-C3AED75FC913}"/>
              </a:ext>
            </a:extLst>
          </p:cNvPr>
          <p:cNvGrpSpPr/>
          <p:nvPr/>
        </p:nvGrpSpPr>
        <p:grpSpPr>
          <a:xfrm>
            <a:off x="254386" y="-93882"/>
            <a:ext cx="11555004" cy="6993401"/>
            <a:chOff x="254386" y="-93882"/>
            <a:chExt cx="11555004" cy="6993401"/>
          </a:xfrm>
        </p:grpSpPr>
        <p:pic>
          <p:nvPicPr>
            <p:cNvPr id="3" name="Picture 2" descr="A graph of different colored lines&#10;&#10;AI-generated content may be incorrect.">
              <a:extLst>
                <a:ext uri="{FF2B5EF4-FFF2-40B4-BE49-F238E27FC236}">
                  <a16:creationId xmlns:a16="http://schemas.microsoft.com/office/drawing/2014/main" id="{D2A068CB-A2D8-7CC3-831C-C8CED7A641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4148" y="-21101"/>
              <a:ext cx="5780650" cy="3468391"/>
            </a:xfrm>
            <a:prstGeom prst="rect">
              <a:avLst/>
            </a:prstGeom>
          </p:spPr>
        </p:pic>
        <p:pic>
          <p:nvPicPr>
            <p:cNvPr id="5" name="Picture 4" descr="A graph of a normal distribution&#10;&#10;AI-generated content may be incorrect.">
              <a:extLst>
                <a:ext uri="{FF2B5EF4-FFF2-40B4-BE49-F238E27FC236}">
                  <a16:creationId xmlns:a16="http://schemas.microsoft.com/office/drawing/2014/main" id="{E74EA201-C69D-74D1-D74F-E414E8FFD8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9389" y="3395519"/>
              <a:ext cx="5840001" cy="3504000"/>
            </a:xfrm>
            <a:prstGeom prst="rect">
              <a:avLst/>
            </a:prstGeom>
          </p:spPr>
        </p:pic>
        <p:pic>
          <p:nvPicPr>
            <p:cNvPr id="9" name="Picture 8">
              <a:extLst>
                <a:ext uri="{FF2B5EF4-FFF2-40B4-BE49-F238E27FC236}">
                  <a16:creationId xmlns:a16="http://schemas.microsoft.com/office/drawing/2014/main" id="{39BEBDF6-BF2A-D72E-90D2-8CBF5BDE0D9F}"/>
                </a:ext>
              </a:extLst>
            </p:cNvPr>
            <p:cNvPicPr>
              <a:picLocks noChangeAspect="1"/>
            </p:cNvPicPr>
            <p:nvPr/>
          </p:nvPicPr>
          <p:blipFill>
            <a:blip r:embed="rId5"/>
            <a:stretch>
              <a:fillRect/>
            </a:stretch>
          </p:blipFill>
          <p:spPr>
            <a:xfrm>
              <a:off x="254386" y="46921"/>
              <a:ext cx="5669280" cy="3382079"/>
            </a:xfrm>
            <a:prstGeom prst="rect">
              <a:avLst/>
            </a:prstGeom>
          </p:spPr>
        </p:pic>
        <p:pic>
          <p:nvPicPr>
            <p:cNvPr id="13" name="Picture 12">
              <a:extLst>
                <a:ext uri="{FF2B5EF4-FFF2-40B4-BE49-F238E27FC236}">
                  <a16:creationId xmlns:a16="http://schemas.microsoft.com/office/drawing/2014/main" id="{702C77C0-B13E-6191-B7B7-743E80FFBB36}"/>
                </a:ext>
              </a:extLst>
            </p:cNvPr>
            <p:cNvPicPr>
              <a:picLocks noChangeAspect="1"/>
            </p:cNvPicPr>
            <p:nvPr/>
          </p:nvPicPr>
          <p:blipFill>
            <a:blip r:embed="rId6"/>
            <a:stretch>
              <a:fillRect/>
            </a:stretch>
          </p:blipFill>
          <p:spPr>
            <a:xfrm>
              <a:off x="269627" y="3410711"/>
              <a:ext cx="5669280" cy="3382079"/>
            </a:xfrm>
            <a:prstGeom prst="rect">
              <a:avLst/>
            </a:prstGeom>
          </p:spPr>
        </p:pic>
        <p:sp>
          <p:nvSpPr>
            <p:cNvPr id="2" name="TextBox 1">
              <a:extLst>
                <a:ext uri="{FF2B5EF4-FFF2-40B4-BE49-F238E27FC236}">
                  <a16:creationId xmlns:a16="http://schemas.microsoft.com/office/drawing/2014/main" id="{C4D72208-76C2-5056-A25F-6CAE4313B363}"/>
                </a:ext>
              </a:extLst>
            </p:cNvPr>
            <p:cNvSpPr txBox="1"/>
            <p:nvPr/>
          </p:nvSpPr>
          <p:spPr>
            <a:xfrm>
              <a:off x="296992" y="-93882"/>
              <a:ext cx="375920" cy="369332"/>
            </a:xfrm>
            <a:prstGeom prst="rect">
              <a:avLst/>
            </a:prstGeom>
            <a:noFill/>
          </p:spPr>
          <p:txBody>
            <a:bodyPr wrap="square" rtlCol="0">
              <a:spAutoFit/>
            </a:bodyPr>
            <a:lstStyle/>
            <a:p>
              <a:r>
                <a:rPr lang="en-US" dirty="0"/>
                <a:t>a)</a:t>
              </a:r>
              <a:endParaRPr lang="nl-NL" dirty="0"/>
            </a:p>
          </p:txBody>
        </p:sp>
        <p:sp>
          <p:nvSpPr>
            <p:cNvPr id="4" name="TextBox 3">
              <a:extLst>
                <a:ext uri="{FF2B5EF4-FFF2-40B4-BE49-F238E27FC236}">
                  <a16:creationId xmlns:a16="http://schemas.microsoft.com/office/drawing/2014/main" id="{DAB4A57A-B406-E124-0343-FE1AC694A667}"/>
                </a:ext>
              </a:extLst>
            </p:cNvPr>
            <p:cNvSpPr txBox="1"/>
            <p:nvPr/>
          </p:nvSpPr>
          <p:spPr>
            <a:xfrm>
              <a:off x="5863158" y="68113"/>
              <a:ext cx="433531" cy="369332"/>
            </a:xfrm>
            <a:prstGeom prst="rect">
              <a:avLst/>
            </a:prstGeom>
            <a:noFill/>
          </p:spPr>
          <p:txBody>
            <a:bodyPr wrap="square" rtlCol="0">
              <a:spAutoFit/>
            </a:bodyPr>
            <a:lstStyle/>
            <a:p>
              <a:r>
                <a:rPr lang="en-US" dirty="0"/>
                <a:t>b)</a:t>
              </a:r>
              <a:endParaRPr lang="nl-NL" dirty="0"/>
            </a:p>
          </p:txBody>
        </p:sp>
        <p:sp>
          <p:nvSpPr>
            <p:cNvPr id="6" name="TextBox 5">
              <a:extLst>
                <a:ext uri="{FF2B5EF4-FFF2-40B4-BE49-F238E27FC236}">
                  <a16:creationId xmlns:a16="http://schemas.microsoft.com/office/drawing/2014/main" id="{B556D0F5-F69B-8B1A-58B4-A8AD69505795}"/>
                </a:ext>
              </a:extLst>
            </p:cNvPr>
            <p:cNvSpPr txBox="1"/>
            <p:nvPr/>
          </p:nvSpPr>
          <p:spPr>
            <a:xfrm>
              <a:off x="283427" y="3316374"/>
              <a:ext cx="375920" cy="369332"/>
            </a:xfrm>
            <a:prstGeom prst="rect">
              <a:avLst/>
            </a:prstGeom>
            <a:noFill/>
          </p:spPr>
          <p:txBody>
            <a:bodyPr wrap="square" rtlCol="0">
              <a:spAutoFit/>
            </a:bodyPr>
            <a:lstStyle/>
            <a:p>
              <a:r>
                <a:rPr lang="en-US" dirty="0"/>
                <a:t>c)</a:t>
              </a:r>
              <a:endParaRPr lang="nl-NL" dirty="0"/>
            </a:p>
          </p:txBody>
        </p:sp>
        <p:sp>
          <p:nvSpPr>
            <p:cNvPr id="7" name="TextBox 6">
              <a:extLst>
                <a:ext uri="{FF2B5EF4-FFF2-40B4-BE49-F238E27FC236}">
                  <a16:creationId xmlns:a16="http://schemas.microsoft.com/office/drawing/2014/main" id="{4964CC0A-7BFF-88D4-5C78-F890100AF027}"/>
                </a:ext>
              </a:extLst>
            </p:cNvPr>
            <p:cNvSpPr txBox="1"/>
            <p:nvPr/>
          </p:nvSpPr>
          <p:spPr>
            <a:xfrm>
              <a:off x="5930873" y="3336129"/>
              <a:ext cx="433531" cy="369332"/>
            </a:xfrm>
            <a:prstGeom prst="rect">
              <a:avLst/>
            </a:prstGeom>
            <a:noFill/>
          </p:spPr>
          <p:txBody>
            <a:bodyPr wrap="square" rtlCol="0">
              <a:spAutoFit/>
            </a:bodyPr>
            <a:lstStyle/>
            <a:p>
              <a:r>
                <a:rPr lang="en-US" dirty="0"/>
                <a:t>d)</a:t>
              </a:r>
              <a:endParaRPr lang="nl-NL" dirty="0"/>
            </a:p>
          </p:txBody>
        </p:sp>
      </p:grpSp>
    </p:spTree>
    <p:extLst>
      <p:ext uri="{BB962C8B-B14F-4D97-AF65-F5344CB8AC3E}">
        <p14:creationId xmlns:p14="http://schemas.microsoft.com/office/powerpoint/2010/main" val="3033432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F93D7C2-3104-F9D4-D7A4-2AD0777A6449}"/>
              </a:ext>
            </a:extLst>
          </p:cNvPr>
          <p:cNvGrpSpPr/>
          <p:nvPr/>
        </p:nvGrpSpPr>
        <p:grpSpPr>
          <a:xfrm>
            <a:off x="59907" y="7718"/>
            <a:ext cx="11764965" cy="6850282"/>
            <a:chOff x="59907" y="7718"/>
            <a:chExt cx="11764965" cy="6850282"/>
          </a:xfrm>
        </p:grpSpPr>
        <p:pic>
          <p:nvPicPr>
            <p:cNvPr id="10" name="Picture 9">
              <a:extLst>
                <a:ext uri="{FF2B5EF4-FFF2-40B4-BE49-F238E27FC236}">
                  <a16:creationId xmlns:a16="http://schemas.microsoft.com/office/drawing/2014/main" id="{99DFC3DA-B4C6-C8DB-14B3-8D92816E5701}"/>
                </a:ext>
              </a:extLst>
            </p:cNvPr>
            <p:cNvPicPr>
              <a:picLocks noChangeAspect="1"/>
            </p:cNvPicPr>
            <p:nvPr/>
          </p:nvPicPr>
          <p:blipFill>
            <a:blip r:embed="rId3"/>
            <a:stretch>
              <a:fillRect/>
            </a:stretch>
          </p:blipFill>
          <p:spPr>
            <a:xfrm>
              <a:off x="160819" y="3405652"/>
              <a:ext cx="5787072" cy="3452348"/>
            </a:xfrm>
            <a:prstGeom prst="rect">
              <a:avLst/>
            </a:prstGeom>
          </p:spPr>
        </p:pic>
        <p:pic>
          <p:nvPicPr>
            <p:cNvPr id="12" name="Picture 11">
              <a:extLst>
                <a:ext uri="{FF2B5EF4-FFF2-40B4-BE49-F238E27FC236}">
                  <a16:creationId xmlns:a16="http://schemas.microsoft.com/office/drawing/2014/main" id="{E0B63F82-AE97-90ED-DDE9-3957D22C3EC9}"/>
                </a:ext>
              </a:extLst>
            </p:cNvPr>
            <p:cNvPicPr>
              <a:picLocks noChangeAspect="1"/>
            </p:cNvPicPr>
            <p:nvPr/>
          </p:nvPicPr>
          <p:blipFill>
            <a:blip r:embed="rId4"/>
            <a:stretch>
              <a:fillRect/>
            </a:stretch>
          </p:blipFill>
          <p:spPr>
            <a:xfrm>
              <a:off x="171871" y="91440"/>
              <a:ext cx="5787072" cy="3452348"/>
            </a:xfrm>
            <a:prstGeom prst="rect">
              <a:avLst/>
            </a:prstGeom>
          </p:spPr>
        </p:pic>
        <p:pic>
          <p:nvPicPr>
            <p:cNvPr id="14" name="Picture 13">
              <a:extLst>
                <a:ext uri="{FF2B5EF4-FFF2-40B4-BE49-F238E27FC236}">
                  <a16:creationId xmlns:a16="http://schemas.microsoft.com/office/drawing/2014/main" id="{20851FAC-2EFE-7971-7C7E-26112B970197}"/>
                </a:ext>
              </a:extLst>
            </p:cNvPr>
            <p:cNvPicPr>
              <a:picLocks noChangeAspect="1"/>
            </p:cNvPicPr>
            <p:nvPr/>
          </p:nvPicPr>
          <p:blipFill>
            <a:blip r:embed="rId5"/>
            <a:stretch>
              <a:fillRect/>
            </a:stretch>
          </p:blipFill>
          <p:spPr>
            <a:xfrm>
              <a:off x="6030955" y="91440"/>
              <a:ext cx="5793917" cy="3456432"/>
            </a:xfrm>
            <a:prstGeom prst="rect">
              <a:avLst/>
            </a:prstGeom>
          </p:spPr>
        </p:pic>
        <p:pic>
          <p:nvPicPr>
            <p:cNvPr id="16" name="Picture 15">
              <a:extLst>
                <a:ext uri="{FF2B5EF4-FFF2-40B4-BE49-F238E27FC236}">
                  <a16:creationId xmlns:a16="http://schemas.microsoft.com/office/drawing/2014/main" id="{FAF8ABFB-6861-940F-5BF6-80DC8FF4F346}"/>
                </a:ext>
              </a:extLst>
            </p:cNvPr>
            <p:cNvPicPr>
              <a:picLocks noChangeAspect="1"/>
            </p:cNvPicPr>
            <p:nvPr/>
          </p:nvPicPr>
          <p:blipFill>
            <a:blip r:embed="rId6"/>
            <a:stretch>
              <a:fillRect/>
            </a:stretch>
          </p:blipFill>
          <p:spPr>
            <a:xfrm>
              <a:off x="6030954" y="3398520"/>
              <a:ext cx="5793917" cy="3456432"/>
            </a:xfrm>
            <a:prstGeom prst="rect">
              <a:avLst/>
            </a:prstGeom>
          </p:spPr>
        </p:pic>
        <p:sp>
          <p:nvSpPr>
            <p:cNvPr id="2" name="TextBox 1">
              <a:extLst>
                <a:ext uri="{FF2B5EF4-FFF2-40B4-BE49-F238E27FC236}">
                  <a16:creationId xmlns:a16="http://schemas.microsoft.com/office/drawing/2014/main" id="{2130016C-3922-3EA7-B69A-0B2736E1CA3F}"/>
                </a:ext>
              </a:extLst>
            </p:cNvPr>
            <p:cNvSpPr txBox="1"/>
            <p:nvPr/>
          </p:nvSpPr>
          <p:spPr>
            <a:xfrm>
              <a:off x="114112" y="7718"/>
              <a:ext cx="375920" cy="369332"/>
            </a:xfrm>
            <a:prstGeom prst="rect">
              <a:avLst/>
            </a:prstGeom>
            <a:noFill/>
          </p:spPr>
          <p:txBody>
            <a:bodyPr wrap="square" rtlCol="0">
              <a:spAutoFit/>
            </a:bodyPr>
            <a:lstStyle/>
            <a:p>
              <a:r>
                <a:rPr lang="en-US" dirty="0"/>
                <a:t>a)</a:t>
              </a:r>
              <a:endParaRPr lang="nl-NL" dirty="0"/>
            </a:p>
          </p:txBody>
        </p:sp>
        <p:sp>
          <p:nvSpPr>
            <p:cNvPr id="3" name="TextBox 2">
              <a:extLst>
                <a:ext uri="{FF2B5EF4-FFF2-40B4-BE49-F238E27FC236}">
                  <a16:creationId xmlns:a16="http://schemas.microsoft.com/office/drawing/2014/main" id="{601F2CBB-03B7-142E-8DF0-D5833B8DE430}"/>
                </a:ext>
              </a:extLst>
            </p:cNvPr>
            <p:cNvSpPr txBox="1"/>
            <p:nvPr/>
          </p:nvSpPr>
          <p:spPr>
            <a:xfrm>
              <a:off x="5863158" y="68113"/>
              <a:ext cx="433531" cy="369332"/>
            </a:xfrm>
            <a:prstGeom prst="rect">
              <a:avLst/>
            </a:prstGeom>
            <a:noFill/>
          </p:spPr>
          <p:txBody>
            <a:bodyPr wrap="square" rtlCol="0">
              <a:spAutoFit/>
            </a:bodyPr>
            <a:lstStyle/>
            <a:p>
              <a:r>
                <a:rPr lang="en-US" dirty="0"/>
                <a:t>b)</a:t>
              </a:r>
              <a:endParaRPr lang="nl-NL" dirty="0"/>
            </a:p>
          </p:txBody>
        </p:sp>
        <p:sp>
          <p:nvSpPr>
            <p:cNvPr id="4" name="TextBox 3">
              <a:extLst>
                <a:ext uri="{FF2B5EF4-FFF2-40B4-BE49-F238E27FC236}">
                  <a16:creationId xmlns:a16="http://schemas.microsoft.com/office/drawing/2014/main" id="{3EAFAC1B-AD66-A7E3-4D32-8A2690B97BF0}"/>
                </a:ext>
              </a:extLst>
            </p:cNvPr>
            <p:cNvSpPr txBox="1"/>
            <p:nvPr/>
          </p:nvSpPr>
          <p:spPr>
            <a:xfrm>
              <a:off x="59907" y="3478934"/>
              <a:ext cx="375920" cy="369332"/>
            </a:xfrm>
            <a:prstGeom prst="rect">
              <a:avLst/>
            </a:prstGeom>
            <a:noFill/>
          </p:spPr>
          <p:txBody>
            <a:bodyPr wrap="square" rtlCol="0">
              <a:spAutoFit/>
            </a:bodyPr>
            <a:lstStyle/>
            <a:p>
              <a:r>
                <a:rPr lang="en-US" dirty="0"/>
                <a:t>c)</a:t>
              </a:r>
              <a:endParaRPr lang="nl-NL" dirty="0"/>
            </a:p>
          </p:txBody>
        </p:sp>
        <p:sp>
          <p:nvSpPr>
            <p:cNvPr id="5" name="TextBox 4">
              <a:extLst>
                <a:ext uri="{FF2B5EF4-FFF2-40B4-BE49-F238E27FC236}">
                  <a16:creationId xmlns:a16="http://schemas.microsoft.com/office/drawing/2014/main" id="{53C3EDEF-A846-F7AE-23A6-305FA79675E1}"/>
                </a:ext>
              </a:extLst>
            </p:cNvPr>
            <p:cNvSpPr txBox="1"/>
            <p:nvPr/>
          </p:nvSpPr>
          <p:spPr>
            <a:xfrm>
              <a:off x="5981673" y="3325969"/>
              <a:ext cx="433531" cy="369332"/>
            </a:xfrm>
            <a:prstGeom prst="rect">
              <a:avLst/>
            </a:prstGeom>
            <a:noFill/>
          </p:spPr>
          <p:txBody>
            <a:bodyPr wrap="square" rtlCol="0">
              <a:spAutoFit/>
            </a:bodyPr>
            <a:lstStyle/>
            <a:p>
              <a:r>
                <a:rPr lang="en-US" dirty="0"/>
                <a:t>d)</a:t>
              </a:r>
              <a:endParaRPr lang="nl-NL" dirty="0"/>
            </a:p>
          </p:txBody>
        </p:sp>
      </p:grpSp>
    </p:spTree>
    <p:extLst>
      <p:ext uri="{BB962C8B-B14F-4D97-AF65-F5344CB8AC3E}">
        <p14:creationId xmlns:p14="http://schemas.microsoft.com/office/powerpoint/2010/main" val="2741206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987CBB1-1F71-E071-6F6B-AD3A9BD292BA}"/>
              </a:ext>
            </a:extLst>
          </p:cNvPr>
          <p:cNvGrpSpPr/>
          <p:nvPr/>
        </p:nvGrpSpPr>
        <p:grpSpPr>
          <a:xfrm>
            <a:off x="12512" y="0"/>
            <a:ext cx="10371008" cy="6858000"/>
            <a:chOff x="12512" y="0"/>
            <a:chExt cx="10371008" cy="6858000"/>
          </a:xfrm>
        </p:grpSpPr>
        <p:pic>
          <p:nvPicPr>
            <p:cNvPr id="3" name="Picture 2">
              <a:extLst>
                <a:ext uri="{FF2B5EF4-FFF2-40B4-BE49-F238E27FC236}">
                  <a16:creationId xmlns:a16="http://schemas.microsoft.com/office/drawing/2014/main" id="{98824164-2DEF-E45F-0CC2-1580082C75E3}"/>
                </a:ext>
              </a:extLst>
            </p:cNvPr>
            <p:cNvPicPr>
              <a:picLocks noChangeAspect="1"/>
            </p:cNvPicPr>
            <p:nvPr/>
          </p:nvPicPr>
          <p:blipFill>
            <a:blip r:embed="rId3"/>
            <a:srcRect r="9895"/>
            <a:stretch/>
          </p:blipFill>
          <p:spPr>
            <a:xfrm>
              <a:off x="134239" y="0"/>
              <a:ext cx="10249281" cy="6858000"/>
            </a:xfrm>
            <a:prstGeom prst="rect">
              <a:avLst/>
            </a:prstGeom>
          </p:spPr>
        </p:pic>
        <p:pic>
          <p:nvPicPr>
            <p:cNvPr id="2" name="Picture 1">
              <a:extLst>
                <a:ext uri="{FF2B5EF4-FFF2-40B4-BE49-F238E27FC236}">
                  <a16:creationId xmlns:a16="http://schemas.microsoft.com/office/drawing/2014/main" id="{1EB2DD14-4F7A-29FC-13F3-C4C4B9AD41D9}"/>
                </a:ext>
              </a:extLst>
            </p:cNvPr>
            <p:cNvPicPr>
              <a:picLocks noChangeAspect="1"/>
            </p:cNvPicPr>
            <p:nvPr/>
          </p:nvPicPr>
          <p:blipFill>
            <a:blip r:embed="rId3"/>
            <a:srcRect l="90462" t="43851" b="42815"/>
            <a:stretch/>
          </p:blipFill>
          <p:spPr>
            <a:xfrm>
              <a:off x="5011040" y="3230880"/>
              <a:ext cx="1084960" cy="914400"/>
            </a:xfrm>
            <a:prstGeom prst="rect">
              <a:avLst/>
            </a:prstGeom>
          </p:spPr>
        </p:pic>
        <p:sp>
          <p:nvSpPr>
            <p:cNvPr id="4" name="TextBox 3">
              <a:extLst>
                <a:ext uri="{FF2B5EF4-FFF2-40B4-BE49-F238E27FC236}">
                  <a16:creationId xmlns:a16="http://schemas.microsoft.com/office/drawing/2014/main" id="{8B6376F6-289C-FCE1-845F-CA09EF377CDA}"/>
                </a:ext>
              </a:extLst>
            </p:cNvPr>
            <p:cNvSpPr txBox="1"/>
            <p:nvPr/>
          </p:nvSpPr>
          <p:spPr>
            <a:xfrm>
              <a:off x="200472" y="237306"/>
              <a:ext cx="375920" cy="369332"/>
            </a:xfrm>
            <a:prstGeom prst="rect">
              <a:avLst/>
            </a:prstGeom>
            <a:noFill/>
          </p:spPr>
          <p:txBody>
            <a:bodyPr wrap="square" rtlCol="0">
              <a:spAutoFit/>
            </a:bodyPr>
            <a:lstStyle/>
            <a:p>
              <a:r>
                <a:rPr lang="en-US" dirty="0"/>
                <a:t>a)</a:t>
              </a:r>
              <a:endParaRPr lang="nl-NL" dirty="0"/>
            </a:p>
          </p:txBody>
        </p:sp>
        <p:sp>
          <p:nvSpPr>
            <p:cNvPr id="5" name="TextBox 4">
              <a:extLst>
                <a:ext uri="{FF2B5EF4-FFF2-40B4-BE49-F238E27FC236}">
                  <a16:creationId xmlns:a16="http://schemas.microsoft.com/office/drawing/2014/main" id="{9760130D-3A91-681F-0030-4350360EAD11}"/>
                </a:ext>
              </a:extLst>
            </p:cNvPr>
            <p:cNvSpPr txBox="1"/>
            <p:nvPr/>
          </p:nvSpPr>
          <p:spPr>
            <a:xfrm>
              <a:off x="5456758" y="333494"/>
              <a:ext cx="433531" cy="369332"/>
            </a:xfrm>
            <a:prstGeom prst="rect">
              <a:avLst/>
            </a:prstGeom>
            <a:noFill/>
          </p:spPr>
          <p:txBody>
            <a:bodyPr wrap="square" rtlCol="0">
              <a:spAutoFit/>
            </a:bodyPr>
            <a:lstStyle/>
            <a:p>
              <a:r>
                <a:rPr lang="en-US" dirty="0"/>
                <a:t>b)</a:t>
              </a:r>
              <a:endParaRPr lang="nl-NL" dirty="0"/>
            </a:p>
          </p:txBody>
        </p:sp>
        <p:sp>
          <p:nvSpPr>
            <p:cNvPr id="6" name="TextBox 5">
              <a:extLst>
                <a:ext uri="{FF2B5EF4-FFF2-40B4-BE49-F238E27FC236}">
                  <a16:creationId xmlns:a16="http://schemas.microsoft.com/office/drawing/2014/main" id="{40482C42-E0E8-3763-B182-5A3F941AA91A}"/>
                </a:ext>
              </a:extLst>
            </p:cNvPr>
            <p:cNvSpPr txBox="1"/>
            <p:nvPr/>
          </p:nvSpPr>
          <p:spPr>
            <a:xfrm>
              <a:off x="12512" y="3455320"/>
              <a:ext cx="375920" cy="369332"/>
            </a:xfrm>
            <a:prstGeom prst="rect">
              <a:avLst/>
            </a:prstGeom>
            <a:noFill/>
          </p:spPr>
          <p:txBody>
            <a:bodyPr wrap="square" rtlCol="0">
              <a:spAutoFit/>
            </a:bodyPr>
            <a:lstStyle/>
            <a:p>
              <a:r>
                <a:rPr lang="en-US" dirty="0"/>
                <a:t>c)</a:t>
              </a:r>
              <a:endParaRPr lang="nl-NL" dirty="0"/>
            </a:p>
          </p:txBody>
        </p:sp>
        <p:sp>
          <p:nvSpPr>
            <p:cNvPr id="7" name="TextBox 6">
              <a:extLst>
                <a:ext uri="{FF2B5EF4-FFF2-40B4-BE49-F238E27FC236}">
                  <a16:creationId xmlns:a16="http://schemas.microsoft.com/office/drawing/2014/main" id="{84229EC2-C0B8-31EC-0853-42F580E369C9}"/>
                </a:ext>
              </a:extLst>
            </p:cNvPr>
            <p:cNvSpPr txBox="1"/>
            <p:nvPr/>
          </p:nvSpPr>
          <p:spPr>
            <a:xfrm>
              <a:off x="6022313" y="3508849"/>
              <a:ext cx="433531" cy="369332"/>
            </a:xfrm>
            <a:prstGeom prst="rect">
              <a:avLst/>
            </a:prstGeom>
            <a:noFill/>
          </p:spPr>
          <p:txBody>
            <a:bodyPr wrap="square" rtlCol="0">
              <a:spAutoFit/>
            </a:bodyPr>
            <a:lstStyle/>
            <a:p>
              <a:r>
                <a:rPr lang="en-US" dirty="0"/>
                <a:t>d)</a:t>
              </a:r>
              <a:endParaRPr lang="nl-NL" dirty="0"/>
            </a:p>
          </p:txBody>
        </p:sp>
      </p:grpSp>
    </p:spTree>
    <p:extLst>
      <p:ext uri="{BB962C8B-B14F-4D97-AF65-F5344CB8AC3E}">
        <p14:creationId xmlns:p14="http://schemas.microsoft.com/office/powerpoint/2010/main" val="1338863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A14C0C4-AAE9-8131-A7C8-F8FDCA5CAE80}"/>
              </a:ext>
            </a:extLst>
          </p:cNvPr>
          <p:cNvGrpSpPr/>
          <p:nvPr/>
        </p:nvGrpSpPr>
        <p:grpSpPr>
          <a:xfrm>
            <a:off x="217487" y="-93882"/>
            <a:ext cx="11452227" cy="6647717"/>
            <a:chOff x="217487" y="-93882"/>
            <a:chExt cx="11452227" cy="6647717"/>
          </a:xfrm>
        </p:grpSpPr>
        <p:pic>
          <p:nvPicPr>
            <p:cNvPr id="3" name="Picture 2">
              <a:extLst>
                <a:ext uri="{FF2B5EF4-FFF2-40B4-BE49-F238E27FC236}">
                  <a16:creationId xmlns:a16="http://schemas.microsoft.com/office/drawing/2014/main" id="{37BD88A7-A799-7EE7-4588-88F94B32C308}"/>
                </a:ext>
              </a:extLst>
            </p:cNvPr>
            <p:cNvPicPr>
              <a:picLocks noChangeAspect="1"/>
            </p:cNvPicPr>
            <p:nvPr/>
          </p:nvPicPr>
          <p:blipFill>
            <a:blip r:embed="rId3"/>
            <a:stretch>
              <a:fillRect/>
            </a:stretch>
          </p:blipFill>
          <p:spPr>
            <a:xfrm>
              <a:off x="217487" y="141605"/>
              <a:ext cx="5726113" cy="3415982"/>
            </a:xfrm>
            <a:prstGeom prst="rect">
              <a:avLst/>
            </a:prstGeom>
          </p:spPr>
        </p:pic>
        <p:pic>
          <p:nvPicPr>
            <p:cNvPr id="5" name="Picture 4">
              <a:extLst>
                <a:ext uri="{FF2B5EF4-FFF2-40B4-BE49-F238E27FC236}">
                  <a16:creationId xmlns:a16="http://schemas.microsoft.com/office/drawing/2014/main" id="{06C69711-057C-65D2-7B24-CEE9AEEE9D26}"/>
                </a:ext>
              </a:extLst>
            </p:cNvPr>
            <p:cNvPicPr>
              <a:picLocks noChangeAspect="1"/>
            </p:cNvPicPr>
            <p:nvPr/>
          </p:nvPicPr>
          <p:blipFill>
            <a:blip r:embed="rId4"/>
            <a:stretch>
              <a:fillRect/>
            </a:stretch>
          </p:blipFill>
          <p:spPr>
            <a:xfrm>
              <a:off x="5943600" y="141604"/>
              <a:ext cx="5726114" cy="3415983"/>
            </a:xfrm>
            <a:prstGeom prst="rect">
              <a:avLst/>
            </a:prstGeom>
          </p:spPr>
        </p:pic>
        <p:pic>
          <p:nvPicPr>
            <p:cNvPr id="4" name="Picture 3">
              <a:extLst>
                <a:ext uri="{FF2B5EF4-FFF2-40B4-BE49-F238E27FC236}">
                  <a16:creationId xmlns:a16="http://schemas.microsoft.com/office/drawing/2014/main" id="{7C12F1BC-0514-5B9D-F7A7-D369759644A7}"/>
                </a:ext>
              </a:extLst>
            </p:cNvPr>
            <p:cNvPicPr>
              <a:picLocks noChangeAspect="1"/>
            </p:cNvPicPr>
            <p:nvPr/>
          </p:nvPicPr>
          <p:blipFill>
            <a:blip r:embed="rId5"/>
            <a:stretch>
              <a:fillRect/>
            </a:stretch>
          </p:blipFill>
          <p:spPr>
            <a:xfrm>
              <a:off x="833260" y="3872547"/>
              <a:ext cx="4494566" cy="2681288"/>
            </a:xfrm>
            <a:prstGeom prst="rect">
              <a:avLst/>
            </a:prstGeom>
          </p:spPr>
        </p:pic>
        <p:sp>
          <p:nvSpPr>
            <p:cNvPr id="2" name="TextBox 1">
              <a:extLst>
                <a:ext uri="{FF2B5EF4-FFF2-40B4-BE49-F238E27FC236}">
                  <a16:creationId xmlns:a16="http://schemas.microsoft.com/office/drawing/2014/main" id="{5D00874C-A307-4798-EADD-45DD60D5D441}"/>
                </a:ext>
              </a:extLst>
            </p:cNvPr>
            <p:cNvSpPr txBox="1"/>
            <p:nvPr/>
          </p:nvSpPr>
          <p:spPr>
            <a:xfrm>
              <a:off x="296992" y="-93882"/>
              <a:ext cx="375920" cy="369332"/>
            </a:xfrm>
            <a:prstGeom prst="rect">
              <a:avLst/>
            </a:prstGeom>
            <a:noFill/>
          </p:spPr>
          <p:txBody>
            <a:bodyPr wrap="square" rtlCol="0">
              <a:spAutoFit/>
            </a:bodyPr>
            <a:lstStyle/>
            <a:p>
              <a:r>
                <a:rPr lang="en-US" dirty="0"/>
                <a:t>a)</a:t>
              </a:r>
              <a:endParaRPr lang="nl-NL" dirty="0"/>
            </a:p>
          </p:txBody>
        </p:sp>
        <p:sp>
          <p:nvSpPr>
            <p:cNvPr id="6" name="TextBox 5">
              <a:extLst>
                <a:ext uri="{FF2B5EF4-FFF2-40B4-BE49-F238E27FC236}">
                  <a16:creationId xmlns:a16="http://schemas.microsoft.com/office/drawing/2014/main" id="{0E18AE0F-F72D-A7E3-CA19-30B724EC8A6E}"/>
                </a:ext>
              </a:extLst>
            </p:cNvPr>
            <p:cNvSpPr txBox="1"/>
            <p:nvPr/>
          </p:nvSpPr>
          <p:spPr>
            <a:xfrm>
              <a:off x="6248402" y="-43063"/>
              <a:ext cx="433531" cy="369332"/>
            </a:xfrm>
            <a:prstGeom prst="rect">
              <a:avLst/>
            </a:prstGeom>
            <a:noFill/>
          </p:spPr>
          <p:txBody>
            <a:bodyPr wrap="square" rtlCol="0">
              <a:spAutoFit/>
            </a:bodyPr>
            <a:lstStyle/>
            <a:p>
              <a:r>
                <a:rPr lang="en-US" dirty="0"/>
                <a:t>b)</a:t>
              </a:r>
              <a:endParaRPr lang="nl-NL" dirty="0"/>
            </a:p>
          </p:txBody>
        </p:sp>
        <p:sp>
          <p:nvSpPr>
            <p:cNvPr id="7" name="TextBox 6">
              <a:extLst>
                <a:ext uri="{FF2B5EF4-FFF2-40B4-BE49-F238E27FC236}">
                  <a16:creationId xmlns:a16="http://schemas.microsoft.com/office/drawing/2014/main" id="{3CBF309A-C49F-5E99-83DD-613D08CD8D13}"/>
                </a:ext>
              </a:extLst>
            </p:cNvPr>
            <p:cNvSpPr txBox="1"/>
            <p:nvPr/>
          </p:nvSpPr>
          <p:spPr>
            <a:xfrm>
              <a:off x="923507" y="3608408"/>
              <a:ext cx="375920" cy="369332"/>
            </a:xfrm>
            <a:prstGeom prst="rect">
              <a:avLst/>
            </a:prstGeom>
            <a:noFill/>
          </p:spPr>
          <p:txBody>
            <a:bodyPr wrap="square" rtlCol="0">
              <a:spAutoFit/>
            </a:bodyPr>
            <a:lstStyle/>
            <a:p>
              <a:r>
                <a:rPr lang="en-US" dirty="0"/>
                <a:t>c)</a:t>
              </a:r>
              <a:endParaRPr lang="nl-NL" dirty="0"/>
            </a:p>
          </p:txBody>
        </p:sp>
      </p:grpSp>
    </p:spTree>
    <p:extLst>
      <p:ext uri="{BB962C8B-B14F-4D97-AF65-F5344CB8AC3E}">
        <p14:creationId xmlns:p14="http://schemas.microsoft.com/office/powerpoint/2010/main" val="730969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67F05DB-E656-97B9-B424-72D0F1DEC4B1}"/>
              </a:ext>
            </a:extLst>
          </p:cNvPr>
          <p:cNvGrpSpPr/>
          <p:nvPr/>
        </p:nvGrpSpPr>
        <p:grpSpPr>
          <a:xfrm>
            <a:off x="456147" y="0"/>
            <a:ext cx="11613933" cy="6858000"/>
            <a:chOff x="456147" y="0"/>
            <a:chExt cx="11613933" cy="6858000"/>
          </a:xfrm>
        </p:grpSpPr>
        <p:pic>
          <p:nvPicPr>
            <p:cNvPr id="3" name="Picture 2">
              <a:extLst>
                <a:ext uri="{FF2B5EF4-FFF2-40B4-BE49-F238E27FC236}">
                  <a16:creationId xmlns:a16="http://schemas.microsoft.com/office/drawing/2014/main" id="{EB28AEDC-D2FB-7F8A-0E44-3C0856005BD1}"/>
                </a:ext>
              </a:extLst>
            </p:cNvPr>
            <p:cNvPicPr>
              <a:picLocks noChangeAspect="1"/>
            </p:cNvPicPr>
            <p:nvPr/>
          </p:nvPicPr>
          <p:blipFill>
            <a:blip r:embed="rId3"/>
            <a:srcRect r="10632"/>
            <a:stretch/>
          </p:blipFill>
          <p:spPr>
            <a:xfrm>
              <a:off x="698569" y="0"/>
              <a:ext cx="8049191" cy="6858000"/>
            </a:xfrm>
            <a:prstGeom prst="rect">
              <a:avLst/>
            </a:prstGeom>
          </p:spPr>
        </p:pic>
        <p:pic>
          <p:nvPicPr>
            <p:cNvPr id="4" name="Picture 3">
              <a:extLst>
                <a:ext uri="{FF2B5EF4-FFF2-40B4-BE49-F238E27FC236}">
                  <a16:creationId xmlns:a16="http://schemas.microsoft.com/office/drawing/2014/main" id="{7CED0798-9331-5574-08A5-E32A52E52CEC}"/>
                </a:ext>
              </a:extLst>
            </p:cNvPr>
            <p:cNvPicPr>
              <a:picLocks noChangeAspect="1"/>
            </p:cNvPicPr>
            <p:nvPr/>
          </p:nvPicPr>
          <p:blipFill>
            <a:blip r:embed="rId3"/>
            <a:srcRect l="89369" t="45185" b="45185"/>
            <a:stretch/>
          </p:blipFill>
          <p:spPr>
            <a:xfrm>
              <a:off x="4622800" y="3429000"/>
              <a:ext cx="957511" cy="660400"/>
            </a:xfrm>
            <a:prstGeom prst="rect">
              <a:avLst/>
            </a:prstGeom>
          </p:spPr>
        </p:pic>
        <p:pic>
          <p:nvPicPr>
            <p:cNvPr id="8" name="Picture 7">
              <a:extLst>
                <a:ext uri="{FF2B5EF4-FFF2-40B4-BE49-F238E27FC236}">
                  <a16:creationId xmlns:a16="http://schemas.microsoft.com/office/drawing/2014/main" id="{76336C71-6DD9-7C75-9083-C986FD6EA44E}"/>
                </a:ext>
              </a:extLst>
            </p:cNvPr>
            <p:cNvPicPr>
              <a:picLocks noChangeAspect="1"/>
            </p:cNvPicPr>
            <p:nvPr/>
          </p:nvPicPr>
          <p:blipFill>
            <a:blip r:embed="rId4"/>
            <a:stretch>
              <a:fillRect/>
            </a:stretch>
          </p:blipFill>
          <p:spPr>
            <a:xfrm>
              <a:off x="8628772" y="1107440"/>
              <a:ext cx="3441308" cy="2052954"/>
            </a:xfrm>
            <a:prstGeom prst="rect">
              <a:avLst/>
            </a:prstGeom>
          </p:spPr>
        </p:pic>
        <p:pic>
          <p:nvPicPr>
            <p:cNvPr id="10" name="Picture 9">
              <a:extLst>
                <a:ext uri="{FF2B5EF4-FFF2-40B4-BE49-F238E27FC236}">
                  <a16:creationId xmlns:a16="http://schemas.microsoft.com/office/drawing/2014/main" id="{0D923E87-D662-9549-EF1E-BFE3DD5DA1A6}"/>
                </a:ext>
              </a:extLst>
            </p:cNvPr>
            <p:cNvPicPr>
              <a:picLocks noChangeAspect="1"/>
            </p:cNvPicPr>
            <p:nvPr/>
          </p:nvPicPr>
          <p:blipFill>
            <a:blip r:embed="rId5"/>
            <a:stretch>
              <a:fillRect/>
            </a:stretch>
          </p:blipFill>
          <p:spPr>
            <a:xfrm>
              <a:off x="8371840" y="3843433"/>
              <a:ext cx="3698240" cy="2293845"/>
            </a:xfrm>
            <a:prstGeom prst="rect">
              <a:avLst/>
            </a:prstGeom>
          </p:spPr>
        </p:pic>
        <p:sp>
          <p:nvSpPr>
            <p:cNvPr id="2" name="TextBox 1">
              <a:extLst>
                <a:ext uri="{FF2B5EF4-FFF2-40B4-BE49-F238E27FC236}">
                  <a16:creationId xmlns:a16="http://schemas.microsoft.com/office/drawing/2014/main" id="{97300BE8-C277-30D2-AD27-A61FEB0A31D5}"/>
                </a:ext>
              </a:extLst>
            </p:cNvPr>
            <p:cNvSpPr txBox="1"/>
            <p:nvPr/>
          </p:nvSpPr>
          <p:spPr>
            <a:xfrm>
              <a:off x="456147" y="437445"/>
              <a:ext cx="375920" cy="369332"/>
            </a:xfrm>
            <a:prstGeom prst="rect">
              <a:avLst/>
            </a:prstGeom>
            <a:noFill/>
          </p:spPr>
          <p:txBody>
            <a:bodyPr wrap="square" rtlCol="0">
              <a:spAutoFit/>
            </a:bodyPr>
            <a:lstStyle/>
            <a:p>
              <a:r>
                <a:rPr lang="en-US" dirty="0"/>
                <a:t>a)</a:t>
              </a:r>
              <a:endParaRPr lang="nl-NL" dirty="0"/>
            </a:p>
          </p:txBody>
        </p:sp>
        <p:sp>
          <p:nvSpPr>
            <p:cNvPr id="5" name="TextBox 4">
              <a:extLst>
                <a:ext uri="{FF2B5EF4-FFF2-40B4-BE49-F238E27FC236}">
                  <a16:creationId xmlns:a16="http://schemas.microsoft.com/office/drawing/2014/main" id="{C21F04F1-FCAB-1DF3-72DF-BDE0DD981A0B}"/>
                </a:ext>
              </a:extLst>
            </p:cNvPr>
            <p:cNvSpPr txBox="1"/>
            <p:nvPr/>
          </p:nvSpPr>
          <p:spPr>
            <a:xfrm>
              <a:off x="5588782" y="437445"/>
              <a:ext cx="433531" cy="369332"/>
            </a:xfrm>
            <a:prstGeom prst="rect">
              <a:avLst/>
            </a:prstGeom>
            <a:noFill/>
          </p:spPr>
          <p:txBody>
            <a:bodyPr wrap="square" rtlCol="0">
              <a:spAutoFit/>
            </a:bodyPr>
            <a:lstStyle/>
            <a:p>
              <a:r>
                <a:rPr lang="en-US" dirty="0"/>
                <a:t>b)</a:t>
              </a:r>
              <a:endParaRPr lang="nl-NL" dirty="0"/>
            </a:p>
          </p:txBody>
        </p:sp>
        <p:sp>
          <p:nvSpPr>
            <p:cNvPr id="6" name="TextBox 5">
              <a:extLst>
                <a:ext uri="{FF2B5EF4-FFF2-40B4-BE49-F238E27FC236}">
                  <a16:creationId xmlns:a16="http://schemas.microsoft.com/office/drawing/2014/main" id="{588CBF49-FAAB-F03F-C20F-C0FBEA4215B6}"/>
                </a:ext>
              </a:extLst>
            </p:cNvPr>
            <p:cNvSpPr txBox="1"/>
            <p:nvPr/>
          </p:nvSpPr>
          <p:spPr>
            <a:xfrm>
              <a:off x="456147" y="3478934"/>
              <a:ext cx="375920" cy="369332"/>
            </a:xfrm>
            <a:prstGeom prst="rect">
              <a:avLst/>
            </a:prstGeom>
            <a:noFill/>
          </p:spPr>
          <p:txBody>
            <a:bodyPr wrap="square" rtlCol="0">
              <a:spAutoFit/>
            </a:bodyPr>
            <a:lstStyle/>
            <a:p>
              <a:r>
                <a:rPr lang="en-US" dirty="0"/>
                <a:t>c)</a:t>
              </a:r>
              <a:endParaRPr lang="nl-NL" dirty="0"/>
            </a:p>
          </p:txBody>
        </p:sp>
        <p:sp>
          <p:nvSpPr>
            <p:cNvPr id="7" name="TextBox 6">
              <a:extLst>
                <a:ext uri="{FF2B5EF4-FFF2-40B4-BE49-F238E27FC236}">
                  <a16:creationId xmlns:a16="http://schemas.microsoft.com/office/drawing/2014/main" id="{69C2E6F9-CEC6-F6ED-8A07-24164E20E338}"/>
                </a:ext>
              </a:extLst>
            </p:cNvPr>
            <p:cNvSpPr txBox="1"/>
            <p:nvPr/>
          </p:nvSpPr>
          <p:spPr>
            <a:xfrm>
              <a:off x="6022313" y="3508849"/>
              <a:ext cx="433531" cy="369332"/>
            </a:xfrm>
            <a:prstGeom prst="rect">
              <a:avLst/>
            </a:prstGeom>
            <a:noFill/>
          </p:spPr>
          <p:txBody>
            <a:bodyPr wrap="square" rtlCol="0">
              <a:spAutoFit/>
            </a:bodyPr>
            <a:lstStyle/>
            <a:p>
              <a:r>
                <a:rPr lang="en-US" dirty="0"/>
                <a:t>d)</a:t>
              </a:r>
              <a:endParaRPr lang="nl-NL" dirty="0"/>
            </a:p>
          </p:txBody>
        </p:sp>
        <p:sp>
          <p:nvSpPr>
            <p:cNvPr id="9" name="TextBox 8">
              <a:extLst>
                <a:ext uri="{FF2B5EF4-FFF2-40B4-BE49-F238E27FC236}">
                  <a16:creationId xmlns:a16="http://schemas.microsoft.com/office/drawing/2014/main" id="{14F3540B-CA55-4223-7288-F0B0DD44C8E4}"/>
                </a:ext>
              </a:extLst>
            </p:cNvPr>
            <p:cNvSpPr txBox="1"/>
            <p:nvPr/>
          </p:nvSpPr>
          <p:spPr>
            <a:xfrm>
              <a:off x="10089662" y="589845"/>
              <a:ext cx="433531" cy="369332"/>
            </a:xfrm>
            <a:prstGeom prst="rect">
              <a:avLst/>
            </a:prstGeom>
            <a:noFill/>
          </p:spPr>
          <p:txBody>
            <a:bodyPr wrap="square" rtlCol="0">
              <a:spAutoFit/>
            </a:bodyPr>
            <a:lstStyle/>
            <a:p>
              <a:r>
                <a:rPr lang="en-US" dirty="0"/>
                <a:t>e)</a:t>
              </a:r>
              <a:endParaRPr lang="nl-NL" dirty="0"/>
            </a:p>
          </p:txBody>
        </p:sp>
        <p:sp>
          <p:nvSpPr>
            <p:cNvPr id="11" name="TextBox 10">
              <a:extLst>
                <a:ext uri="{FF2B5EF4-FFF2-40B4-BE49-F238E27FC236}">
                  <a16:creationId xmlns:a16="http://schemas.microsoft.com/office/drawing/2014/main" id="{4CED2DE2-BA6A-CC55-3C71-436A3C67B70C}"/>
                </a:ext>
              </a:extLst>
            </p:cNvPr>
            <p:cNvSpPr txBox="1"/>
            <p:nvPr/>
          </p:nvSpPr>
          <p:spPr>
            <a:xfrm>
              <a:off x="10303022" y="3475285"/>
              <a:ext cx="433531" cy="369332"/>
            </a:xfrm>
            <a:prstGeom prst="rect">
              <a:avLst/>
            </a:prstGeom>
            <a:noFill/>
          </p:spPr>
          <p:txBody>
            <a:bodyPr wrap="square" rtlCol="0">
              <a:spAutoFit/>
            </a:bodyPr>
            <a:lstStyle/>
            <a:p>
              <a:r>
                <a:rPr lang="en-US" dirty="0"/>
                <a:t>f)</a:t>
              </a:r>
              <a:endParaRPr lang="nl-NL" dirty="0"/>
            </a:p>
          </p:txBody>
        </p:sp>
      </p:grpSp>
    </p:spTree>
    <p:extLst>
      <p:ext uri="{BB962C8B-B14F-4D97-AF65-F5344CB8AC3E}">
        <p14:creationId xmlns:p14="http://schemas.microsoft.com/office/powerpoint/2010/main" val="50696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B56A21D-FD35-B51F-1CFC-A51CAC7966D3}"/>
              </a:ext>
            </a:extLst>
          </p:cNvPr>
          <p:cNvGrpSpPr/>
          <p:nvPr/>
        </p:nvGrpSpPr>
        <p:grpSpPr>
          <a:xfrm>
            <a:off x="1394242" y="0"/>
            <a:ext cx="9403516" cy="6858000"/>
            <a:chOff x="1394242" y="0"/>
            <a:chExt cx="9403516" cy="6858000"/>
          </a:xfrm>
        </p:grpSpPr>
        <p:pic>
          <p:nvPicPr>
            <p:cNvPr id="3" name="Picture 2">
              <a:extLst>
                <a:ext uri="{FF2B5EF4-FFF2-40B4-BE49-F238E27FC236}">
                  <a16:creationId xmlns:a16="http://schemas.microsoft.com/office/drawing/2014/main" id="{EE47228F-844F-4241-AA9A-D5DA98CE8DA1}"/>
                </a:ext>
              </a:extLst>
            </p:cNvPr>
            <p:cNvPicPr>
              <a:picLocks noChangeAspect="1"/>
            </p:cNvPicPr>
            <p:nvPr/>
          </p:nvPicPr>
          <p:blipFill>
            <a:blip r:embed="rId3"/>
            <a:stretch>
              <a:fillRect/>
            </a:stretch>
          </p:blipFill>
          <p:spPr>
            <a:xfrm>
              <a:off x="1394242" y="0"/>
              <a:ext cx="9403516" cy="6858000"/>
            </a:xfrm>
            <a:prstGeom prst="rect">
              <a:avLst/>
            </a:prstGeom>
          </p:spPr>
        </p:pic>
        <p:sp>
          <p:nvSpPr>
            <p:cNvPr id="4" name="TextBox 3">
              <a:extLst>
                <a:ext uri="{FF2B5EF4-FFF2-40B4-BE49-F238E27FC236}">
                  <a16:creationId xmlns:a16="http://schemas.microsoft.com/office/drawing/2014/main" id="{CD46AFB5-B5E1-16EF-80C0-4AA3D168ADA0}"/>
                </a:ext>
              </a:extLst>
            </p:cNvPr>
            <p:cNvSpPr txBox="1"/>
            <p:nvPr/>
          </p:nvSpPr>
          <p:spPr>
            <a:xfrm>
              <a:off x="1592392" y="237306"/>
              <a:ext cx="375920" cy="369332"/>
            </a:xfrm>
            <a:prstGeom prst="rect">
              <a:avLst/>
            </a:prstGeom>
            <a:noFill/>
          </p:spPr>
          <p:txBody>
            <a:bodyPr wrap="square" rtlCol="0">
              <a:spAutoFit/>
            </a:bodyPr>
            <a:lstStyle/>
            <a:p>
              <a:r>
                <a:rPr lang="en-US" dirty="0"/>
                <a:t>a)</a:t>
              </a:r>
              <a:endParaRPr lang="nl-NL" dirty="0"/>
            </a:p>
          </p:txBody>
        </p:sp>
        <p:sp>
          <p:nvSpPr>
            <p:cNvPr id="5" name="TextBox 4">
              <a:extLst>
                <a:ext uri="{FF2B5EF4-FFF2-40B4-BE49-F238E27FC236}">
                  <a16:creationId xmlns:a16="http://schemas.microsoft.com/office/drawing/2014/main" id="{CEFE730F-75FD-8053-13EE-88D0EC791EB5}"/>
                </a:ext>
              </a:extLst>
            </p:cNvPr>
            <p:cNvSpPr txBox="1"/>
            <p:nvPr/>
          </p:nvSpPr>
          <p:spPr>
            <a:xfrm>
              <a:off x="6452382" y="421972"/>
              <a:ext cx="433531" cy="369332"/>
            </a:xfrm>
            <a:prstGeom prst="rect">
              <a:avLst/>
            </a:prstGeom>
            <a:noFill/>
          </p:spPr>
          <p:txBody>
            <a:bodyPr wrap="square" rtlCol="0">
              <a:spAutoFit/>
            </a:bodyPr>
            <a:lstStyle/>
            <a:p>
              <a:r>
                <a:rPr lang="en-US" dirty="0"/>
                <a:t>b)</a:t>
              </a:r>
              <a:endParaRPr lang="nl-NL" dirty="0"/>
            </a:p>
          </p:txBody>
        </p:sp>
        <p:sp>
          <p:nvSpPr>
            <p:cNvPr id="6" name="TextBox 5">
              <a:extLst>
                <a:ext uri="{FF2B5EF4-FFF2-40B4-BE49-F238E27FC236}">
                  <a16:creationId xmlns:a16="http://schemas.microsoft.com/office/drawing/2014/main" id="{5A22589B-C086-07DF-3776-4FB131F080E6}"/>
                </a:ext>
              </a:extLst>
            </p:cNvPr>
            <p:cNvSpPr txBox="1"/>
            <p:nvPr/>
          </p:nvSpPr>
          <p:spPr>
            <a:xfrm>
              <a:off x="1404432" y="3455320"/>
              <a:ext cx="375920" cy="369332"/>
            </a:xfrm>
            <a:prstGeom prst="rect">
              <a:avLst/>
            </a:prstGeom>
            <a:noFill/>
          </p:spPr>
          <p:txBody>
            <a:bodyPr wrap="square" rtlCol="0">
              <a:spAutoFit/>
            </a:bodyPr>
            <a:lstStyle/>
            <a:p>
              <a:r>
                <a:rPr lang="en-US" dirty="0"/>
                <a:t>c)</a:t>
              </a:r>
              <a:endParaRPr lang="nl-NL" dirty="0"/>
            </a:p>
          </p:txBody>
        </p:sp>
        <p:sp>
          <p:nvSpPr>
            <p:cNvPr id="7" name="TextBox 6">
              <a:extLst>
                <a:ext uri="{FF2B5EF4-FFF2-40B4-BE49-F238E27FC236}">
                  <a16:creationId xmlns:a16="http://schemas.microsoft.com/office/drawing/2014/main" id="{A147E225-D42D-F835-BCFD-9397F288119A}"/>
                </a:ext>
              </a:extLst>
            </p:cNvPr>
            <p:cNvSpPr txBox="1"/>
            <p:nvPr/>
          </p:nvSpPr>
          <p:spPr>
            <a:xfrm>
              <a:off x="6560793" y="3455320"/>
              <a:ext cx="433531" cy="369332"/>
            </a:xfrm>
            <a:prstGeom prst="rect">
              <a:avLst/>
            </a:prstGeom>
            <a:noFill/>
          </p:spPr>
          <p:txBody>
            <a:bodyPr wrap="square" rtlCol="0">
              <a:spAutoFit/>
            </a:bodyPr>
            <a:lstStyle/>
            <a:p>
              <a:r>
                <a:rPr lang="en-US" dirty="0"/>
                <a:t>d)</a:t>
              </a:r>
              <a:endParaRPr lang="nl-NL" dirty="0"/>
            </a:p>
          </p:txBody>
        </p:sp>
      </p:grpSp>
    </p:spTree>
    <p:extLst>
      <p:ext uri="{BB962C8B-B14F-4D97-AF65-F5344CB8AC3E}">
        <p14:creationId xmlns:p14="http://schemas.microsoft.com/office/powerpoint/2010/main" val="3577273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950</TotalTime>
  <Words>1326</Words>
  <Application>Microsoft Office PowerPoint</Application>
  <PresentationFormat>Widescreen</PresentationFormat>
  <Paragraphs>88</Paragraphs>
  <Slides>11</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Desmond Lartey</dc:creator>
  <cp:lastModifiedBy>Desmond Lartey</cp:lastModifiedBy>
  <cp:revision>11</cp:revision>
  <dcterms:created xsi:type="dcterms:W3CDTF">2025-04-29T10:34:41Z</dcterms:created>
  <dcterms:modified xsi:type="dcterms:W3CDTF">2025-05-02T14:20:15Z</dcterms:modified>
</cp:coreProperties>
</file>